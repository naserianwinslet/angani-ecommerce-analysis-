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5944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65647" y="0"/>
            <a:ext cx="201168"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49237" y="0"/>
            <a:ext cx="9094763" cy="54864"/>
          </a:xfrm>
          <a:prstGeom prst="rect">
            <a:avLst/>
          </a:prstGeom>
          <a:solidFill>
            <a:srgbClr val="0D9488"/>
          </a:solidFill>
          <a:ln w="12700">
            <a:solidFill>
              <a:srgbClr val="0D9488"/>
            </a:solidFill>
            <a:prstDash val="solid"/>
          </a:ln>
        </p:spPr>
        <p:txBody>
          <a:bodyPr/>
          <a:lstStyle/>
          <a:p>
            <a:endParaRPr lang="en-US"/>
          </a:p>
        </p:txBody>
      </p:sp>
      <p:sp>
        <p:nvSpPr>
          <p:cNvPr id="4" name="Text 2"/>
          <p:cNvSpPr/>
          <p:nvPr/>
        </p:nvSpPr>
        <p:spPr>
          <a:xfrm>
            <a:off x="594360" y="61898"/>
            <a:ext cx="8229600" cy="1005840"/>
          </a:xfrm>
          <a:prstGeom prst="rect">
            <a:avLst/>
          </a:prstGeom>
          <a:noFill/>
          <a:ln/>
        </p:spPr>
        <p:txBody>
          <a:bodyPr wrap="square" lIns="0" tIns="0" rIns="0" bIns="0" rtlCol="0" anchor="ctr"/>
          <a:lstStyle/>
          <a:p>
            <a:pPr marL="0" indent="0" algn="l">
              <a:buNone/>
            </a:pPr>
            <a:r>
              <a:rPr lang="en-US" sz="5000" b="1" dirty="0">
                <a:solidFill>
                  <a:srgbClr val="FFFFFF"/>
                </a:solidFill>
                <a:latin typeface="Calibri" pitchFamily="34" charset="0"/>
                <a:ea typeface="Calibri" pitchFamily="34" charset="-122"/>
                <a:cs typeface="Calibri" pitchFamily="34" charset="-120"/>
              </a:rPr>
              <a:t>E-Commerce Analytics</a:t>
            </a:r>
            <a:endParaRPr lang="en-US" sz="5000" dirty="0"/>
          </a:p>
        </p:txBody>
      </p:sp>
      <p:sp>
        <p:nvSpPr>
          <p:cNvPr id="5" name="Shape 3"/>
          <p:cNvSpPr/>
          <p:nvPr/>
        </p:nvSpPr>
        <p:spPr>
          <a:xfrm>
            <a:off x="548640" y="1101501"/>
            <a:ext cx="3474720" cy="54864"/>
          </a:xfrm>
          <a:prstGeom prst="rect">
            <a:avLst/>
          </a:prstGeom>
          <a:solidFill>
            <a:srgbClr val="F59E0B"/>
          </a:solidFill>
          <a:ln w="12700">
            <a:solidFill>
              <a:srgbClr val="F59E0B"/>
            </a:solidFill>
            <a:prstDash val="solid"/>
          </a:ln>
        </p:spPr>
        <p:txBody>
          <a:bodyPr/>
          <a:lstStyle/>
          <a:p>
            <a:endParaRPr lang="en-US"/>
          </a:p>
        </p:txBody>
      </p:sp>
      <p:sp>
        <p:nvSpPr>
          <p:cNvPr id="6" name="Text 4"/>
          <p:cNvSpPr/>
          <p:nvPr/>
        </p:nvSpPr>
        <p:spPr>
          <a:xfrm>
            <a:off x="548640" y="1218571"/>
            <a:ext cx="7315200" cy="475488"/>
          </a:xfrm>
          <a:prstGeom prst="rect">
            <a:avLst/>
          </a:prstGeom>
          <a:noFill/>
          <a:ln/>
        </p:spPr>
        <p:txBody>
          <a:bodyPr wrap="square" lIns="0" tIns="0" rIns="0" bIns="0" rtlCol="0" anchor="ctr"/>
          <a:lstStyle/>
          <a:p>
            <a:pPr marL="0" indent="0" algn="l">
              <a:buNone/>
            </a:pPr>
            <a:r>
              <a:rPr lang="en-US" sz="2400" dirty="0">
                <a:solidFill>
                  <a:srgbClr val="0D9488"/>
                </a:solidFill>
                <a:latin typeface="Calibri" pitchFamily="34" charset="0"/>
                <a:ea typeface="Calibri" pitchFamily="34" charset="-122"/>
                <a:cs typeface="Calibri" pitchFamily="34" charset="-120"/>
              </a:rPr>
              <a:t>Full Project Report</a:t>
            </a:r>
            <a:endParaRPr lang="en-US" sz="2400" dirty="0"/>
          </a:p>
        </p:txBody>
      </p:sp>
      <p:sp>
        <p:nvSpPr>
          <p:cNvPr id="7" name="Text 5"/>
          <p:cNvSpPr/>
          <p:nvPr/>
        </p:nvSpPr>
        <p:spPr>
          <a:xfrm>
            <a:off x="548640" y="1694059"/>
            <a:ext cx="7315200" cy="329184"/>
          </a:xfrm>
          <a:prstGeom prst="rect">
            <a:avLst/>
          </a:prstGeom>
          <a:noFill/>
          <a:ln/>
        </p:spPr>
        <p:txBody>
          <a:bodyPr wrap="square" lIns="0" tIns="0" rIns="0" bIns="0" rtlCol="0" anchor="ctr"/>
          <a:lstStyle/>
          <a:p>
            <a:pPr marL="0" indent="0" algn="l">
              <a:buNone/>
            </a:pPr>
            <a:r>
              <a:rPr lang="en-US" sz="1500" dirty="0">
                <a:solidFill>
                  <a:srgbClr val="94A3B8"/>
                </a:solidFill>
                <a:latin typeface="Calibri" pitchFamily="34" charset="0"/>
                <a:ea typeface="Calibri" pitchFamily="34" charset="-122"/>
                <a:cs typeface="Calibri" pitchFamily="34" charset="-120"/>
              </a:rPr>
              <a:t>Sales  ·  Products  ·  Operations  ·  Customers</a:t>
            </a:r>
            <a:endParaRPr lang="en-US" sz="1500" dirty="0"/>
          </a:p>
        </p:txBody>
      </p:sp>
      <p:sp>
        <p:nvSpPr>
          <p:cNvPr id="8" name="Shape 6"/>
          <p:cNvSpPr/>
          <p:nvPr/>
        </p:nvSpPr>
        <p:spPr>
          <a:xfrm>
            <a:off x="548640" y="2163920"/>
            <a:ext cx="1920240" cy="896112"/>
          </a:xfrm>
          <a:prstGeom prst="rect">
            <a:avLst/>
          </a:prstGeom>
          <a:solidFill>
            <a:srgbClr val="0A1525"/>
          </a:solidFill>
          <a:ln w="12700">
            <a:solidFill>
              <a:srgbClr val="0D9488"/>
            </a:solidFill>
            <a:prstDash val="solid"/>
          </a:ln>
        </p:spPr>
        <p:txBody>
          <a:bodyPr/>
          <a:lstStyle/>
          <a:p>
            <a:endParaRPr lang="en-US"/>
          </a:p>
        </p:txBody>
      </p:sp>
      <p:sp>
        <p:nvSpPr>
          <p:cNvPr id="9" name="Text 7"/>
          <p:cNvSpPr/>
          <p:nvPr/>
        </p:nvSpPr>
        <p:spPr>
          <a:xfrm>
            <a:off x="548640" y="2133985"/>
            <a:ext cx="1920240" cy="483900"/>
          </a:xfrm>
          <a:prstGeom prst="rect">
            <a:avLst/>
          </a:prstGeom>
          <a:noFill/>
          <a:ln/>
        </p:spPr>
        <p:txBody>
          <a:bodyPr wrap="square" lIns="0" tIns="0" rIns="0" bIns="0" rtlCol="0" anchor="ctr"/>
          <a:lstStyle/>
          <a:p>
            <a:pPr marL="0" indent="0" algn="ctr">
              <a:buNone/>
            </a:pPr>
            <a:r>
              <a:rPr lang="en-US" sz="2800" b="1" dirty="0">
                <a:solidFill>
                  <a:srgbClr val="0D9488"/>
                </a:solidFill>
                <a:latin typeface="Calibri" pitchFamily="34" charset="0"/>
                <a:ea typeface="Calibri" pitchFamily="34" charset="-122"/>
                <a:cs typeface="Calibri" pitchFamily="34" charset="-120"/>
              </a:rPr>
              <a:t>500K+ Rows</a:t>
            </a:r>
            <a:endParaRPr lang="en-US" sz="2800" dirty="0"/>
          </a:p>
        </p:txBody>
      </p:sp>
      <p:sp>
        <p:nvSpPr>
          <p:cNvPr id="10" name="Text 8"/>
          <p:cNvSpPr/>
          <p:nvPr/>
        </p:nvSpPr>
        <p:spPr>
          <a:xfrm>
            <a:off x="474960" y="2635370"/>
            <a:ext cx="1920240" cy="286756"/>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Before Cleaning</a:t>
            </a:r>
            <a:endParaRPr lang="en-US" sz="1100" dirty="0"/>
          </a:p>
        </p:txBody>
      </p:sp>
      <p:sp>
        <p:nvSpPr>
          <p:cNvPr id="11" name="Shape 9"/>
          <p:cNvSpPr/>
          <p:nvPr/>
        </p:nvSpPr>
        <p:spPr>
          <a:xfrm>
            <a:off x="2578080" y="2175569"/>
            <a:ext cx="1920240" cy="896112"/>
          </a:xfrm>
          <a:prstGeom prst="rect">
            <a:avLst/>
          </a:prstGeom>
          <a:solidFill>
            <a:srgbClr val="0A1525"/>
          </a:solidFill>
          <a:ln w="12700">
            <a:solidFill>
              <a:srgbClr val="0D9488"/>
            </a:solidFill>
            <a:prstDash val="solid"/>
          </a:ln>
        </p:spPr>
        <p:txBody>
          <a:bodyPr/>
          <a:lstStyle/>
          <a:p>
            <a:endParaRPr lang="en-US" dirty="0"/>
          </a:p>
        </p:txBody>
      </p:sp>
      <p:sp>
        <p:nvSpPr>
          <p:cNvPr id="12" name="Text 10"/>
          <p:cNvSpPr/>
          <p:nvPr/>
        </p:nvSpPr>
        <p:spPr>
          <a:xfrm>
            <a:off x="2532360" y="2154776"/>
            <a:ext cx="1920240" cy="483900"/>
          </a:xfrm>
          <a:prstGeom prst="rect">
            <a:avLst/>
          </a:prstGeom>
          <a:noFill/>
          <a:ln/>
        </p:spPr>
        <p:txBody>
          <a:bodyPr wrap="square" lIns="0" tIns="0" rIns="0" bIns="0" rtlCol="0" anchor="ctr"/>
          <a:lstStyle/>
          <a:p>
            <a:pPr marL="0" indent="0" algn="ctr">
              <a:buNone/>
            </a:pPr>
            <a:r>
              <a:rPr lang="en-US" sz="2800" b="1" dirty="0">
                <a:solidFill>
                  <a:srgbClr val="0D9488"/>
                </a:solidFill>
                <a:latin typeface="Calibri" pitchFamily="34" charset="0"/>
                <a:ea typeface="Calibri" pitchFamily="34" charset="-122"/>
                <a:cs typeface="Calibri" pitchFamily="34" charset="-120"/>
              </a:rPr>
              <a:t>2016–18</a:t>
            </a:r>
            <a:endParaRPr lang="en-US" sz="2800" dirty="0"/>
          </a:p>
        </p:txBody>
      </p:sp>
      <p:sp>
        <p:nvSpPr>
          <p:cNvPr id="13" name="Text 11"/>
          <p:cNvSpPr/>
          <p:nvPr/>
        </p:nvSpPr>
        <p:spPr>
          <a:xfrm>
            <a:off x="2600940" y="2701812"/>
            <a:ext cx="1920240" cy="286756"/>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Date Range</a:t>
            </a:r>
          </a:p>
          <a:p>
            <a:pPr marL="0" indent="0" algn="ctr">
              <a:buNone/>
            </a:pPr>
            <a:r>
              <a:rPr lang="en-US" sz="1100" dirty="0">
                <a:solidFill>
                  <a:srgbClr val="94A3B8"/>
                </a:solidFill>
                <a:latin typeface="Calibri" pitchFamily="34" charset="0"/>
                <a:ea typeface="Calibri" pitchFamily="34" charset="-122"/>
                <a:cs typeface="Calibri" pitchFamily="34" charset="-120"/>
              </a:rPr>
              <a:t>FY 17 - 19</a:t>
            </a:r>
            <a:endParaRPr lang="en-US" sz="1100" dirty="0"/>
          </a:p>
        </p:txBody>
      </p:sp>
      <p:sp>
        <p:nvSpPr>
          <p:cNvPr id="14" name="Shape 12"/>
          <p:cNvSpPr/>
          <p:nvPr/>
        </p:nvSpPr>
        <p:spPr>
          <a:xfrm>
            <a:off x="4709160" y="2163611"/>
            <a:ext cx="1920240" cy="896112"/>
          </a:xfrm>
          <a:prstGeom prst="rect">
            <a:avLst/>
          </a:prstGeom>
          <a:solidFill>
            <a:srgbClr val="0A1525"/>
          </a:solidFill>
          <a:ln w="12700">
            <a:solidFill>
              <a:srgbClr val="0D9488"/>
            </a:solidFill>
            <a:prstDash val="solid"/>
          </a:ln>
        </p:spPr>
        <p:txBody>
          <a:bodyPr/>
          <a:lstStyle/>
          <a:p>
            <a:endParaRPr lang="en-US"/>
          </a:p>
        </p:txBody>
      </p:sp>
      <p:sp>
        <p:nvSpPr>
          <p:cNvPr id="15" name="Text 13"/>
          <p:cNvSpPr/>
          <p:nvPr/>
        </p:nvSpPr>
        <p:spPr>
          <a:xfrm>
            <a:off x="4663440" y="2175569"/>
            <a:ext cx="1920240" cy="483900"/>
          </a:xfrm>
          <a:prstGeom prst="rect">
            <a:avLst/>
          </a:prstGeom>
          <a:noFill/>
          <a:ln/>
        </p:spPr>
        <p:txBody>
          <a:bodyPr wrap="square" lIns="0" tIns="0" rIns="0" bIns="0" rtlCol="0" anchor="ctr"/>
          <a:lstStyle/>
          <a:p>
            <a:pPr marL="0" indent="0" algn="ctr">
              <a:buNone/>
            </a:pPr>
            <a:r>
              <a:rPr lang="en-US" sz="2800" b="1" dirty="0">
                <a:solidFill>
                  <a:srgbClr val="0D9488"/>
                </a:solidFill>
                <a:latin typeface="Calibri" pitchFamily="34" charset="0"/>
                <a:ea typeface="Calibri" pitchFamily="34" charset="-122"/>
                <a:cs typeface="Calibri" pitchFamily="34" charset="-120"/>
              </a:rPr>
              <a:t>5 Pages</a:t>
            </a:r>
            <a:endParaRPr lang="en-US" sz="2800" dirty="0"/>
          </a:p>
        </p:txBody>
      </p:sp>
      <p:sp>
        <p:nvSpPr>
          <p:cNvPr id="16" name="Text 14"/>
          <p:cNvSpPr/>
          <p:nvPr/>
        </p:nvSpPr>
        <p:spPr>
          <a:xfrm>
            <a:off x="4686300" y="2681527"/>
            <a:ext cx="1920240" cy="286756"/>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Dashboard</a:t>
            </a:r>
            <a:endParaRPr lang="en-US" sz="1100" dirty="0"/>
          </a:p>
        </p:txBody>
      </p:sp>
      <p:sp>
        <p:nvSpPr>
          <p:cNvPr id="17" name="Shape 15"/>
          <p:cNvSpPr/>
          <p:nvPr/>
        </p:nvSpPr>
        <p:spPr>
          <a:xfrm>
            <a:off x="6858000" y="2169829"/>
            <a:ext cx="1920240" cy="896112"/>
          </a:xfrm>
          <a:prstGeom prst="rect">
            <a:avLst/>
          </a:prstGeom>
          <a:solidFill>
            <a:srgbClr val="0A1525"/>
          </a:solidFill>
          <a:ln w="12700">
            <a:solidFill>
              <a:srgbClr val="0D9488"/>
            </a:solidFill>
            <a:prstDash val="solid"/>
          </a:ln>
        </p:spPr>
        <p:txBody>
          <a:bodyPr/>
          <a:lstStyle/>
          <a:p>
            <a:endParaRPr lang="en-US"/>
          </a:p>
        </p:txBody>
      </p:sp>
      <p:sp>
        <p:nvSpPr>
          <p:cNvPr id="18" name="Text 16"/>
          <p:cNvSpPr/>
          <p:nvPr/>
        </p:nvSpPr>
        <p:spPr>
          <a:xfrm>
            <a:off x="6748800" y="2133985"/>
            <a:ext cx="1920240" cy="483900"/>
          </a:xfrm>
          <a:prstGeom prst="rect">
            <a:avLst/>
          </a:prstGeom>
          <a:noFill/>
          <a:ln/>
        </p:spPr>
        <p:txBody>
          <a:bodyPr wrap="square" lIns="0" tIns="0" rIns="0" bIns="0" rtlCol="0" anchor="ctr"/>
          <a:lstStyle/>
          <a:p>
            <a:pPr marL="0" indent="0" algn="ctr">
              <a:buNone/>
            </a:pPr>
            <a:r>
              <a:rPr lang="en-US" sz="2800" b="1" dirty="0">
                <a:solidFill>
                  <a:srgbClr val="0D9488"/>
                </a:solidFill>
                <a:latin typeface="Calibri" pitchFamily="34" charset="0"/>
                <a:ea typeface="Calibri" pitchFamily="34" charset="-122"/>
                <a:cs typeface="Calibri" pitchFamily="34" charset="-120"/>
              </a:rPr>
              <a:t>40+</a:t>
            </a:r>
            <a:endParaRPr lang="en-US" sz="2800" dirty="0"/>
          </a:p>
        </p:txBody>
      </p:sp>
      <p:sp>
        <p:nvSpPr>
          <p:cNvPr id="19" name="Text 17"/>
          <p:cNvSpPr/>
          <p:nvPr/>
        </p:nvSpPr>
        <p:spPr>
          <a:xfrm>
            <a:off x="6863275" y="2662901"/>
            <a:ext cx="1920240" cy="286756"/>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DAX Measures</a:t>
            </a:r>
            <a:endParaRPr lang="en-US" sz="1100" dirty="0"/>
          </a:p>
        </p:txBody>
      </p:sp>
      <p:sp>
        <p:nvSpPr>
          <p:cNvPr id="20" name="Text 18"/>
          <p:cNvSpPr/>
          <p:nvPr/>
        </p:nvSpPr>
        <p:spPr>
          <a:xfrm>
            <a:off x="502920" y="3288352"/>
            <a:ext cx="7315200" cy="274320"/>
          </a:xfrm>
          <a:prstGeom prst="rect">
            <a:avLst/>
          </a:prstGeom>
          <a:noFill/>
          <a:ln/>
        </p:spPr>
        <p:txBody>
          <a:bodyPr wrap="square" lIns="0" tIns="0" rIns="0" bIns="0" rtlCol="0" anchor="ctr"/>
          <a:lstStyle/>
          <a:p>
            <a:pPr marL="0" indent="0" algn="l">
              <a:buNone/>
            </a:pPr>
            <a:r>
              <a:rPr lang="en-US" sz="1300" dirty="0">
                <a:solidFill>
                  <a:srgbClr val="64748B"/>
                </a:solidFill>
                <a:latin typeface="Calibri" pitchFamily="34" charset="0"/>
                <a:ea typeface="Calibri" pitchFamily="34" charset="-122"/>
                <a:cs typeface="Calibri" pitchFamily="34" charset="-120"/>
              </a:rPr>
              <a:t>Powered by MySQL  ·  Power Query  ·  DAX  ·  Power BI Desktop</a:t>
            </a:r>
            <a:endParaRPr lang="en-US" sz="1300" dirty="0"/>
          </a:p>
        </p:txBody>
      </p:sp>
      <p:sp>
        <p:nvSpPr>
          <p:cNvPr id="21" name="Shape 19"/>
          <p:cNvSpPr/>
          <p:nvPr/>
        </p:nvSpPr>
        <p:spPr>
          <a:xfrm>
            <a:off x="0" y="4791456"/>
            <a:ext cx="9144000" cy="352044"/>
          </a:xfrm>
          <a:prstGeom prst="rect">
            <a:avLst/>
          </a:prstGeom>
          <a:solidFill>
            <a:srgbClr val="080F18"/>
          </a:solidFill>
          <a:ln w="12700">
            <a:solidFill>
              <a:srgbClr val="080F18"/>
            </a:solidFill>
            <a:prstDash val="solid"/>
          </a:ln>
        </p:spPr>
        <p:txBody>
          <a:bodyPr/>
          <a:lstStyle/>
          <a:p>
            <a:endParaRPr lang="en-US"/>
          </a:p>
        </p:txBody>
      </p:sp>
      <p:sp>
        <p:nvSpPr>
          <p:cNvPr id="22" name="Text 20"/>
          <p:cNvSpPr/>
          <p:nvPr/>
        </p:nvSpPr>
        <p:spPr>
          <a:xfrm>
            <a:off x="457200" y="4809744"/>
            <a:ext cx="8229600" cy="292608"/>
          </a:xfrm>
          <a:prstGeom prst="rect">
            <a:avLst/>
          </a:prstGeom>
          <a:noFill/>
          <a:ln/>
        </p:spPr>
        <p:txBody>
          <a:bodyPr wrap="square" lIns="0" tIns="0" rIns="0" bIns="0" rtlCol="0" anchor="ctr"/>
          <a:lstStyle/>
          <a:p>
            <a:pPr marL="0" indent="0" algn="l">
              <a:buNone/>
            </a:pPr>
            <a:r>
              <a:rPr lang="en-US" sz="1200" dirty="0">
                <a:solidFill>
                  <a:srgbClr val="64748B"/>
                </a:solidFill>
                <a:latin typeface="Calibri" pitchFamily="34" charset="0"/>
                <a:ea typeface="Calibri" pitchFamily="34" charset="-122"/>
                <a:cs typeface="Calibri" pitchFamily="34" charset="-120"/>
              </a:rPr>
              <a:t>Angani Sales Data  •  Product Master  •  Angani Ecommerce MySQL Database</a:t>
            </a:r>
            <a:endParaRPr lang="en-US" sz="1200" dirty="0"/>
          </a:p>
        </p:txBody>
      </p:sp>
      <p:sp>
        <p:nvSpPr>
          <p:cNvPr id="25" name="TextBox 24">
            <a:extLst>
              <a:ext uri="{FF2B5EF4-FFF2-40B4-BE49-F238E27FC236}">
                <a16:creationId xmlns:a16="http://schemas.microsoft.com/office/drawing/2014/main" id="{C1B8A9E0-7D0E-A0B4-B4D1-ADE127FCCAF7}"/>
              </a:ext>
            </a:extLst>
          </p:cNvPr>
          <p:cNvSpPr txBox="1"/>
          <p:nvPr/>
        </p:nvSpPr>
        <p:spPr>
          <a:xfrm>
            <a:off x="647115" y="3620060"/>
            <a:ext cx="4853353" cy="923330"/>
          </a:xfrm>
          <a:prstGeom prst="rect">
            <a:avLst/>
          </a:prstGeom>
          <a:noFill/>
        </p:spPr>
        <p:txBody>
          <a:bodyPr wrap="square" rtlCol="0">
            <a:spAutoFit/>
          </a:bodyPr>
          <a:lstStyle/>
          <a:p>
            <a:r>
              <a:rPr lang="en-US" dirty="0">
                <a:solidFill>
                  <a:schemeClr val="bg1"/>
                </a:solidFill>
              </a:rPr>
              <a:t>Group Member: Aisha Farah</a:t>
            </a:r>
          </a:p>
          <a:p>
            <a:r>
              <a:rPr lang="en-US" dirty="0">
                <a:solidFill>
                  <a:schemeClr val="bg1"/>
                </a:solidFill>
              </a:rPr>
              <a:t>                           : Jenipher Wanyoike</a:t>
            </a:r>
          </a:p>
          <a:p>
            <a:r>
              <a:rPr lang="en-US" dirty="0">
                <a:solidFill>
                  <a:schemeClr val="bg1"/>
                </a:solidFill>
              </a:rPr>
              <a:t>                           : Winslet Naserian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841248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Table of Contents</a:t>
            </a:r>
            <a:endParaRPr lang="en-US" sz="2400" dirty="0"/>
          </a:p>
        </p:txBody>
      </p:sp>
      <p:sp>
        <p:nvSpPr>
          <p:cNvPr id="4" name="Shape 2"/>
          <p:cNvSpPr/>
          <p:nvPr/>
        </p:nvSpPr>
        <p:spPr>
          <a:xfrm>
            <a:off x="256032" y="822960"/>
            <a:ext cx="4224528" cy="694944"/>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5" name="Shape 3"/>
          <p:cNvSpPr/>
          <p:nvPr/>
        </p:nvSpPr>
        <p:spPr>
          <a:xfrm>
            <a:off x="256032" y="822960"/>
            <a:ext cx="548640" cy="694944"/>
          </a:xfrm>
          <a:prstGeom prst="rect">
            <a:avLst/>
          </a:prstGeom>
          <a:solidFill>
            <a:srgbClr val="0D9488"/>
          </a:solidFill>
          <a:ln w="12700">
            <a:solidFill>
              <a:srgbClr val="0D9488"/>
            </a:solidFill>
            <a:prstDash val="solid"/>
          </a:ln>
        </p:spPr>
        <p:txBody>
          <a:bodyPr/>
          <a:lstStyle/>
          <a:p>
            <a:endParaRPr lang="en-US"/>
          </a:p>
        </p:txBody>
      </p:sp>
      <p:sp>
        <p:nvSpPr>
          <p:cNvPr id="6" name="Text 4"/>
          <p:cNvSpPr/>
          <p:nvPr/>
        </p:nvSpPr>
        <p:spPr>
          <a:xfrm>
            <a:off x="256032" y="1005840"/>
            <a:ext cx="54864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877824" y="896112"/>
            <a:ext cx="3529584"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Business Understanding</a:t>
            </a:r>
            <a:endParaRPr lang="en-US" sz="1500" dirty="0"/>
          </a:p>
        </p:txBody>
      </p:sp>
      <p:sp>
        <p:nvSpPr>
          <p:cNvPr id="8" name="Text 6"/>
          <p:cNvSpPr/>
          <p:nvPr/>
        </p:nvSpPr>
        <p:spPr>
          <a:xfrm>
            <a:off x="877824" y="1225296"/>
            <a:ext cx="3529584" cy="23774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Problem statement and business objectives</a:t>
            </a:r>
            <a:endParaRPr lang="en-US" sz="1200" dirty="0"/>
          </a:p>
        </p:txBody>
      </p:sp>
      <p:sp>
        <p:nvSpPr>
          <p:cNvPr id="9" name="Shape 7"/>
          <p:cNvSpPr/>
          <p:nvPr/>
        </p:nvSpPr>
        <p:spPr>
          <a:xfrm>
            <a:off x="256032" y="1645920"/>
            <a:ext cx="4224528" cy="694944"/>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0" name="Shape 8"/>
          <p:cNvSpPr/>
          <p:nvPr/>
        </p:nvSpPr>
        <p:spPr>
          <a:xfrm>
            <a:off x="256032" y="1645920"/>
            <a:ext cx="548640" cy="694944"/>
          </a:xfrm>
          <a:prstGeom prst="rect">
            <a:avLst/>
          </a:prstGeom>
          <a:solidFill>
            <a:srgbClr val="0D1B2A"/>
          </a:solidFill>
          <a:ln w="12700">
            <a:solidFill>
              <a:srgbClr val="0D1B2A"/>
            </a:solidFill>
            <a:prstDash val="solid"/>
          </a:ln>
        </p:spPr>
        <p:txBody>
          <a:bodyPr/>
          <a:lstStyle/>
          <a:p>
            <a:endParaRPr lang="en-US"/>
          </a:p>
        </p:txBody>
      </p:sp>
      <p:sp>
        <p:nvSpPr>
          <p:cNvPr id="11" name="Text 9"/>
          <p:cNvSpPr/>
          <p:nvPr/>
        </p:nvSpPr>
        <p:spPr>
          <a:xfrm>
            <a:off x="256032" y="1828800"/>
            <a:ext cx="54864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12" name="Text 10"/>
          <p:cNvSpPr/>
          <p:nvPr/>
        </p:nvSpPr>
        <p:spPr>
          <a:xfrm>
            <a:off x="877824" y="1719072"/>
            <a:ext cx="3529584"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Data Pipeline &amp; Cleaning</a:t>
            </a:r>
            <a:endParaRPr lang="en-US" sz="1500" dirty="0"/>
          </a:p>
        </p:txBody>
      </p:sp>
      <p:sp>
        <p:nvSpPr>
          <p:cNvPr id="13" name="Text 11"/>
          <p:cNvSpPr/>
          <p:nvPr/>
        </p:nvSpPr>
        <p:spPr>
          <a:xfrm>
            <a:off x="877824" y="2048256"/>
            <a:ext cx="3529584" cy="23774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Power Query steps, vendor column, MySQL import</a:t>
            </a:r>
            <a:endParaRPr lang="en-US" sz="1200" dirty="0"/>
          </a:p>
        </p:txBody>
      </p:sp>
      <p:sp>
        <p:nvSpPr>
          <p:cNvPr id="14" name="Shape 12"/>
          <p:cNvSpPr/>
          <p:nvPr/>
        </p:nvSpPr>
        <p:spPr>
          <a:xfrm>
            <a:off x="256032" y="2468880"/>
            <a:ext cx="4224528" cy="694944"/>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5" name="Shape 13"/>
          <p:cNvSpPr/>
          <p:nvPr/>
        </p:nvSpPr>
        <p:spPr>
          <a:xfrm>
            <a:off x="256032" y="2468880"/>
            <a:ext cx="548640" cy="694944"/>
          </a:xfrm>
          <a:prstGeom prst="rect">
            <a:avLst/>
          </a:prstGeom>
          <a:solidFill>
            <a:srgbClr val="7C3AED"/>
          </a:solidFill>
          <a:ln w="12700">
            <a:solidFill>
              <a:srgbClr val="7C3AED"/>
            </a:solidFill>
            <a:prstDash val="solid"/>
          </a:ln>
        </p:spPr>
        <p:txBody>
          <a:bodyPr/>
          <a:lstStyle/>
          <a:p>
            <a:endParaRPr lang="en-US"/>
          </a:p>
        </p:txBody>
      </p:sp>
      <p:sp>
        <p:nvSpPr>
          <p:cNvPr id="16" name="Text 14"/>
          <p:cNvSpPr/>
          <p:nvPr/>
        </p:nvSpPr>
        <p:spPr>
          <a:xfrm>
            <a:off x="256032" y="2651760"/>
            <a:ext cx="54864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17" name="Text 15"/>
          <p:cNvSpPr/>
          <p:nvPr/>
        </p:nvSpPr>
        <p:spPr>
          <a:xfrm>
            <a:off x="877824" y="2542032"/>
            <a:ext cx="3529584"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Exploratory Data Analysis</a:t>
            </a:r>
            <a:endParaRPr lang="en-US" sz="1500" dirty="0"/>
          </a:p>
        </p:txBody>
      </p:sp>
      <p:sp>
        <p:nvSpPr>
          <p:cNvPr id="18" name="Text 16"/>
          <p:cNvSpPr/>
          <p:nvPr/>
        </p:nvSpPr>
        <p:spPr>
          <a:xfrm>
            <a:off x="877824" y="2871216"/>
            <a:ext cx="3529584" cy="23774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Statistical findings, correlations, patterns</a:t>
            </a:r>
            <a:endParaRPr lang="en-US" sz="1200" dirty="0"/>
          </a:p>
        </p:txBody>
      </p:sp>
      <p:sp>
        <p:nvSpPr>
          <p:cNvPr id="19" name="Shape 17"/>
          <p:cNvSpPr/>
          <p:nvPr/>
        </p:nvSpPr>
        <p:spPr>
          <a:xfrm>
            <a:off x="256032" y="3291840"/>
            <a:ext cx="4224528" cy="694944"/>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20" name="Shape 18"/>
          <p:cNvSpPr/>
          <p:nvPr/>
        </p:nvSpPr>
        <p:spPr>
          <a:xfrm>
            <a:off x="256032" y="3291840"/>
            <a:ext cx="548640" cy="694944"/>
          </a:xfrm>
          <a:prstGeom prst="rect">
            <a:avLst/>
          </a:prstGeom>
          <a:solidFill>
            <a:srgbClr val="0F766E"/>
          </a:solidFill>
          <a:ln w="12700">
            <a:solidFill>
              <a:srgbClr val="0F766E"/>
            </a:solidFill>
            <a:prstDash val="solid"/>
          </a:ln>
        </p:spPr>
        <p:txBody>
          <a:bodyPr/>
          <a:lstStyle/>
          <a:p>
            <a:endParaRPr lang="en-US"/>
          </a:p>
        </p:txBody>
      </p:sp>
      <p:sp>
        <p:nvSpPr>
          <p:cNvPr id="21" name="Text 19"/>
          <p:cNvSpPr/>
          <p:nvPr/>
        </p:nvSpPr>
        <p:spPr>
          <a:xfrm>
            <a:off x="256032" y="3474720"/>
            <a:ext cx="54864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04</a:t>
            </a:r>
            <a:endParaRPr lang="en-US" sz="2000" dirty="0"/>
          </a:p>
        </p:txBody>
      </p:sp>
      <p:sp>
        <p:nvSpPr>
          <p:cNvPr id="22" name="Text 20"/>
          <p:cNvSpPr/>
          <p:nvPr/>
        </p:nvSpPr>
        <p:spPr>
          <a:xfrm>
            <a:off x="877824" y="3364992"/>
            <a:ext cx="3529584"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DAX Measures</a:t>
            </a:r>
            <a:endParaRPr lang="en-US" sz="1500" dirty="0"/>
          </a:p>
        </p:txBody>
      </p:sp>
      <p:sp>
        <p:nvSpPr>
          <p:cNvPr id="23" name="Text 21"/>
          <p:cNvSpPr/>
          <p:nvPr/>
        </p:nvSpPr>
        <p:spPr>
          <a:xfrm>
            <a:off x="877824" y="3694176"/>
            <a:ext cx="3529584" cy="23774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40+ measures across 6 categories</a:t>
            </a:r>
            <a:endParaRPr lang="en-US" sz="1200" dirty="0"/>
          </a:p>
        </p:txBody>
      </p:sp>
      <p:sp>
        <p:nvSpPr>
          <p:cNvPr id="24" name="Shape 22"/>
          <p:cNvSpPr/>
          <p:nvPr/>
        </p:nvSpPr>
        <p:spPr>
          <a:xfrm>
            <a:off x="256032" y="4114800"/>
            <a:ext cx="4224528" cy="694944"/>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25" name="Shape 23"/>
          <p:cNvSpPr/>
          <p:nvPr/>
        </p:nvSpPr>
        <p:spPr>
          <a:xfrm>
            <a:off x="256032" y="4114800"/>
            <a:ext cx="548640" cy="694944"/>
          </a:xfrm>
          <a:prstGeom prst="rect">
            <a:avLst/>
          </a:prstGeom>
          <a:solidFill>
            <a:srgbClr val="B45309"/>
          </a:solidFill>
          <a:ln w="12700">
            <a:solidFill>
              <a:srgbClr val="B45309"/>
            </a:solidFill>
            <a:prstDash val="solid"/>
          </a:ln>
        </p:spPr>
        <p:txBody>
          <a:bodyPr/>
          <a:lstStyle/>
          <a:p>
            <a:endParaRPr lang="en-US"/>
          </a:p>
        </p:txBody>
      </p:sp>
      <p:sp>
        <p:nvSpPr>
          <p:cNvPr id="26" name="Text 24"/>
          <p:cNvSpPr/>
          <p:nvPr/>
        </p:nvSpPr>
        <p:spPr>
          <a:xfrm>
            <a:off x="256032" y="4297680"/>
            <a:ext cx="54864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05</a:t>
            </a:r>
            <a:endParaRPr lang="en-US" sz="2000" dirty="0"/>
          </a:p>
        </p:txBody>
      </p:sp>
      <p:sp>
        <p:nvSpPr>
          <p:cNvPr id="27" name="Text 25"/>
          <p:cNvSpPr/>
          <p:nvPr/>
        </p:nvSpPr>
        <p:spPr>
          <a:xfrm>
            <a:off x="877824" y="4187952"/>
            <a:ext cx="3529584"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SQL Validation</a:t>
            </a:r>
            <a:endParaRPr lang="en-US" sz="1500" dirty="0"/>
          </a:p>
        </p:txBody>
      </p:sp>
      <p:sp>
        <p:nvSpPr>
          <p:cNvPr id="28" name="Text 26"/>
          <p:cNvSpPr/>
          <p:nvPr/>
        </p:nvSpPr>
        <p:spPr>
          <a:xfrm>
            <a:off x="877824" y="4517136"/>
            <a:ext cx="3529584" cy="23774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14 queries, EER diagram, Power BI cross-check</a:t>
            </a:r>
            <a:endParaRPr lang="en-US" sz="1200" dirty="0"/>
          </a:p>
        </p:txBody>
      </p:sp>
      <p:sp>
        <p:nvSpPr>
          <p:cNvPr id="29" name="Shape 27"/>
          <p:cNvSpPr/>
          <p:nvPr/>
        </p:nvSpPr>
        <p:spPr>
          <a:xfrm>
            <a:off x="4700016" y="822960"/>
            <a:ext cx="4224528" cy="694944"/>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30" name="Shape 28"/>
          <p:cNvSpPr/>
          <p:nvPr/>
        </p:nvSpPr>
        <p:spPr>
          <a:xfrm>
            <a:off x="4700016" y="822960"/>
            <a:ext cx="548640" cy="694944"/>
          </a:xfrm>
          <a:prstGeom prst="rect">
            <a:avLst/>
          </a:prstGeom>
          <a:solidFill>
            <a:srgbClr val="F59E0B"/>
          </a:solidFill>
          <a:ln w="12700">
            <a:solidFill>
              <a:srgbClr val="F59E0B"/>
            </a:solidFill>
            <a:prstDash val="solid"/>
          </a:ln>
        </p:spPr>
        <p:txBody>
          <a:bodyPr/>
          <a:lstStyle/>
          <a:p>
            <a:endParaRPr lang="en-US"/>
          </a:p>
        </p:txBody>
      </p:sp>
      <p:sp>
        <p:nvSpPr>
          <p:cNvPr id="31" name="Text 29"/>
          <p:cNvSpPr/>
          <p:nvPr/>
        </p:nvSpPr>
        <p:spPr>
          <a:xfrm>
            <a:off x="4700016" y="1005840"/>
            <a:ext cx="54864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06</a:t>
            </a:r>
            <a:endParaRPr lang="en-US" sz="2000" dirty="0"/>
          </a:p>
        </p:txBody>
      </p:sp>
      <p:sp>
        <p:nvSpPr>
          <p:cNvPr id="32" name="Text 30"/>
          <p:cNvSpPr/>
          <p:nvPr/>
        </p:nvSpPr>
        <p:spPr>
          <a:xfrm>
            <a:off x="5321808" y="896112"/>
            <a:ext cx="3529584"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Dashboard Pages</a:t>
            </a:r>
            <a:endParaRPr lang="en-US" sz="1500" dirty="0"/>
          </a:p>
        </p:txBody>
      </p:sp>
      <p:sp>
        <p:nvSpPr>
          <p:cNvPr id="33" name="Text 31"/>
          <p:cNvSpPr/>
          <p:nvPr/>
        </p:nvSpPr>
        <p:spPr>
          <a:xfrm>
            <a:off x="5321808" y="1225296"/>
            <a:ext cx="3529584" cy="23774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 pages — Overview, Sales, Products, Operations, Customers</a:t>
            </a:r>
            <a:endParaRPr lang="en-US" sz="1200" dirty="0"/>
          </a:p>
        </p:txBody>
      </p:sp>
      <p:sp>
        <p:nvSpPr>
          <p:cNvPr id="34" name="Shape 32"/>
          <p:cNvSpPr/>
          <p:nvPr/>
        </p:nvSpPr>
        <p:spPr>
          <a:xfrm>
            <a:off x="4700016" y="1645920"/>
            <a:ext cx="4224528" cy="694944"/>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35" name="Shape 33"/>
          <p:cNvSpPr/>
          <p:nvPr/>
        </p:nvSpPr>
        <p:spPr>
          <a:xfrm>
            <a:off x="4700016" y="1645920"/>
            <a:ext cx="548640" cy="694944"/>
          </a:xfrm>
          <a:prstGeom prst="rect">
            <a:avLst/>
          </a:prstGeom>
          <a:solidFill>
            <a:srgbClr val="0D9488"/>
          </a:solidFill>
          <a:ln w="12700">
            <a:solidFill>
              <a:srgbClr val="0D9488"/>
            </a:solidFill>
            <a:prstDash val="solid"/>
          </a:ln>
        </p:spPr>
        <p:txBody>
          <a:bodyPr/>
          <a:lstStyle/>
          <a:p>
            <a:endParaRPr lang="en-US"/>
          </a:p>
        </p:txBody>
      </p:sp>
      <p:sp>
        <p:nvSpPr>
          <p:cNvPr id="36" name="Text 34"/>
          <p:cNvSpPr/>
          <p:nvPr/>
        </p:nvSpPr>
        <p:spPr>
          <a:xfrm>
            <a:off x="4700016" y="1828800"/>
            <a:ext cx="54864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07</a:t>
            </a:r>
            <a:endParaRPr lang="en-US" sz="2000" dirty="0"/>
          </a:p>
        </p:txBody>
      </p:sp>
      <p:sp>
        <p:nvSpPr>
          <p:cNvPr id="37" name="Text 35"/>
          <p:cNvSpPr/>
          <p:nvPr/>
        </p:nvSpPr>
        <p:spPr>
          <a:xfrm>
            <a:off x="5321808" y="1719072"/>
            <a:ext cx="3529584"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Key Insights</a:t>
            </a:r>
            <a:endParaRPr lang="en-US" sz="1500" dirty="0"/>
          </a:p>
        </p:txBody>
      </p:sp>
      <p:sp>
        <p:nvSpPr>
          <p:cNvPr id="38" name="Text 36"/>
          <p:cNvSpPr/>
          <p:nvPr/>
        </p:nvSpPr>
        <p:spPr>
          <a:xfrm>
            <a:off x="5321808" y="2048256"/>
            <a:ext cx="3529584" cy="23774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Findings with real values from the data</a:t>
            </a:r>
            <a:endParaRPr lang="en-US" sz="1200" dirty="0"/>
          </a:p>
        </p:txBody>
      </p:sp>
      <p:sp>
        <p:nvSpPr>
          <p:cNvPr id="39" name="Shape 37"/>
          <p:cNvSpPr/>
          <p:nvPr/>
        </p:nvSpPr>
        <p:spPr>
          <a:xfrm>
            <a:off x="4700016" y="2468880"/>
            <a:ext cx="4224528" cy="694944"/>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40" name="Shape 38"/>
          <p:cNvSpPr/>
          <p:nvPr/>
        </p:nvSpPr>
        <p:spPr>
          <a:xfrm>
            <a:off x="4700016" y="2468880"/>
            <a:ext cx="548640" cy="694944"/>
          </a:xfrm>
          <a:prstGeom prst="rect">
            <a:avLst/>
          </a:prstGeom>
          <a:solidFill>
            <a:srgbClr val="0D1B2A"/>
          </a:solidFill>
          <a:ln w="12700">
            <a:solidFill>
              <a:srgbClr val="0D1B2A"/>
            </a:solidFill>
            <a:prstDash val="solid"/>
          </a:ln>
        </p:spPr>
        <p:txBody>
          <a:bodyPr/>
          <a:lstStyle/>
          <a:p>
            <a:endParaRPr lang="en-US"/>
          </a:p>
        </p:txBody>
      </p:sp>
      <p:sp>
        <p:nvSpPr>
          <p:cNvPr id="41" name="Text 39"/>
          <p:cNvSpPr/>
          <p:nvPr/>
        </p:nvSpPr>
        <p:spPr>
          <a:xfrm>
            <a:off x="4700016" y="2651760"/>
            <a:ext cx="54864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08</a:t>
            </a:r>
            <a:endParaRPr lang="en-US" sz="2000" dirty="0"/>
          </a:p>
        </p:txBody>
      </p:sp>
      <p:sp>
        <p:nvSpPr>
          <p:cNvPr id="42" name="Text 40"/>
          <p:cNvSpPr/>
          <p:nvPr/>
        </p:nvSpPr>
        <p:spPr>
          <a:xfrm>
            <a:off x="5321808" y="2542032"/>
            <a:ext cx="3529584"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Recommendations</a:t>
            </a:r>
            <a:endParaRPr lang="en-US" sz="1500" dirty="0"/>
          </a:p>
        </p:txBody>
      </p:sp>
      <p:sp>
        <p:nvSpPr>
          <p:cNvPr id="43" name="Text 41"/>
          <p:cNvSpPr/>
          <p:nvPr/>
        </p:nvSpPr>
        <p:spPr>
          <a:xfrm>
            <a:off x="5321808" y="2871216"/>
            <a:ext cx="3529584" cy="23774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4 actionable recommendations for the business</a:t>
            </a:r>
            <a:endParaRPr lang="en-US" sz="1200" dirty="0"/>
          </a:p>
        </p:txBody>
      </p:sp>
      <p:sp>
        <p:nvSpPr>
          <p:cNvPr id="44" name="Shape 42"/>
          <p:cNvSpPr/>
          <p:nvPr/>
        </p:nvSpPr>
        <p:spPr>
          <a:xfrm>
            <a:off x="4700016" y="3291840"/>
            <a:ext cx="4224528" cy="694944"/>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45" name="Shape 43"/>
          <p:cNvSpPr/>
          <p:nvPr/>
        </p:nvSpPr>
        <p:spPr>
          <a:xfrm>
            <a:off x="4700016" y="3291840"/>
            <a:ext cx="548640" cy="694944"/>
          </a:xfrm>
          <a:prstGeom prst="rect">
            <a:avLst/>
          </a:prstGeom>
          <a:solidFill>
            <a:srgbClr val="DC2626"/>
          </a:solidFill>
          <a:ln w="12700">
            <a:solidFill>
              <a:srgbClr val="DC2626"/>
            </a:solidFill>
            <a:prstDash val="solid"/>
          </a:ln>
        </p:spPr>
        <p:txBody>
          <a:bodyPr/>
          <a:lstStyle/>
          <a:p>
            <a:endParaRPr lang="en-US"/>
          </a:p>
        </p:txBody>
      </p:sp>
      <p:sp>
        <p:nvSpPr>
          <p:cNvPr id="46" name="Text 44"/>
          <p:cNvSpPr/>
          <p:nvPr/>
        </p:nvSpPr>
        <p:spPr>
          <a:xfrm>
            <a:off x="4700016" y="3474720"/>
            <a:ext cx="54864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09</a:t>
            </a:r>
            <a:endParaRPr lang="en-US" sz="2000" dirty="0"/>
          </a:p>
        </p:txBody>
      </p:sp>
      <p:sp>
        <p:nvSpPr>
          <p:cNvPr id="47" name="Text 45"/>
          <p:cNvSpPr/>
          <p:nvPr/>
        </p:nvSpPr>
        <p:spPr>
          <a:xfrm>
            <a:off x="5321808" y="3364992"/>
            <a:ext cx="3529584"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Challenges &amp; Data Limitations</a:t>
            </a:r>
            <a:endParaRPr lang="en-US" sz="1500" dirty="0"/>
          </a:p>
        </p:txBody>
      </p:sp>
      <p:sp>
        <p:nvSpPr>
          <p:cNvPr id="48" name="Text 46"/>
          <p:cNvSpPr/>
          <p:nvPr/>
        </p:nvSpPr>
        <p:spPr>
          <a:xfrm>
            <a:off x="5321808" y="3694176"/>
            <a:ext cx="3529584" cy="23774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MySQL connector issues, data quality problems</a:t>
            </a:r>
            <a:endParaRPr lang="en-US" sz="1200" dirty="0"/>
          </a:p>
        </p:txBody>
      </p:sp>
      <p:sp>
        <p:nvSpPr>
          <p:cNvPr id="49" name="Shape 47"/>
          <p:cNvSpPr/>
          <p:nvPr/>
        </p:nvSpPr>
        <p:spPr>
          <a:xfrm>
            <a:off x="4700016" y="4114800"/>
            <a:ext cx="4224528" cy="694944"/>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50" name="Shape 48"/>
          <p:cNvSpPr/>
          <p:nvPr/>
        </p:nvSpPr>
        <p:spPr>
          <a:xfrm>
            <a:off x="4700016" y="4114800"/>
            <a:ext cx="548640" cy="694944"/>
          </a:xfrm>
          <a:prstGeom prst="rect">
            <a:avLst/>
          </a:prstGeom>
          <a:solidFill>
            <a:srgbClr val="64748B"/>
          </a:solidFill>
          <a:ln w="12700">
            <a:solidFill>
              <a:srgbClr val="64748B"/>
            </a:solidFill>
            <a:prstDash val="solid"/>
          </a:ln>
        </p:spPr>
        <p:txBody>
          <a:bodyPr/>
          <a:lstStyle/>
          <a:p>
            <a:endParaRPr lang="en-US"/>
          </a:p>
        </p:txBody>
      </p:sp>
      <p:sp>
        <p:nvSpPr>
          <p:cNvPr id="51" name="Text 49"/>
          <p:cNvSpPr/>
          <p:nvPr/>
        </p:nvSpPr>
        <p:spPr>
          <a:xfrm>
            <a:off x="4700016" y="4297680"/>
            <a:ext cx="548640" cy="34747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a:t>
            </a:r>
            <a:endParaRPr lang="en-US" sz="2000" dirty="0"/>
          </a:p>
        </p:txBody>
      </p:sp>
      <p:sp>
        <p:nvSpPr>
          <p:cNvPr id="52" name="Text 50"/>
          <p:cNvSpPr/>
          <p:nvPr/>
        </p:nvSpPr>
        <p:spPr>
          <a:xfrm>
            <a:off x="5321808" y="4187952"/>
            <a:ext cx="3529584"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Limitations &amp; Future Work</a:t>
            </a:r>
            <a:endParaRPr lang="en-US" sz="1500" dirty="0"/>
          </a:p>
        </p:txBody>
      </p:sp>
      <p:sp>
        <p:nvSpPr>
          <p:cNvPr id="53" name="Text 51"/>
          <p:cNvSpPr/>
          <p:nvPr/>
        </p:nvSpPr>
        <p:spPr>
          <a:xfrm>
            <a:off x="5321808" y="4517136"/>
            <a:ext cx="3529584" cy="237744"/>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What data cannot tell us and what to do next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841248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01  —  Business Understanding</a:t>
            </a:r>
            <a:endParaRPr lang="en-US" sz="2400" dirty="0"/>
          </a:p>
        </p:txBody>
      </p:sp>
      <p:sp>
        <p:nvSpPr>
          <p:cNvPr id="4" name="Shape 2"/>
          <p:cNvSpPr/>
          <p:nvPr/>
        </p:nvSpPr>
        <p:spPr>
          <a:xfrm>
            <a:off x="329184" y="1218966"/>
            <a:ext cx="3922776" cy="3706836"/>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r>
              <a:rPr lang="en-US" sz="1600" dirty="0"/>
              <a:t>Extracting meaningful information from raw datasets could be a difficult task, especially when it spans several years. This often hinders business owners and stakeholders from making accurate data-driven decisions. To measure trends in revenue, identify the products with the highest sales, and assess customers’ transaction preferences, the datasets for this store need to be properly modelled, analyzed, and visualized for efficient decision-making.</a:t>
            </a:r>
          </a:p>
        </p:txBody>
      </p:sp>
      <p:sp>
        <p:nvSpPr>
          <p:cNvPr id="5" name="Shape 3"/>
          <p:cNvSpPr/>
          <p:nvPr/>
        </p:nvSpPr>
        <p:spPr>
          <a:xfrm>
            <a:off x="219456" y="804672"/>
            <a:ext cx="109728" cy="4187952"/>
          </a:xfrm>
          <a:prstGeom prst="rect">
            <a:avLst/>
          </a:prstGeom>
          <a:solidFill>
            <a:srgbClr val="0D9488"/>
          </a:solidFill>
          <a:ln w="12700">
            <a:solidFill>
              <a:srgbClr val="0D9488"/>
            </a:solidFill>
            <a:prstDash val="solid"/>
          </a:ln>
        </p:spPr>
        <p:txBody>
          <a:bodyPr/>
          <a:lstStyle/>
          <a:p>
            <a:endParaRPr lang="en-US"/>
          </a:p>
        </p:txBody>
      </p:sp>
      <p:sp>
        <p:nvSpPr>
          <p:cNvPr id="6" name="Text 4"/>
          <p:cNvSpPr/>
          <p:nvPr/>
        </p:nvSpPr>
        <p:spPr>
          <a:xfrm>
            <a:off x="457200" y="914400"/>
            <a:ext cx="3886200"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Problem Statement</a:t>
            </a:r>
            <a:endParaRPr lang="en-US" sz="1500" dirty="0"/>
          </a:p>
        </p:txBody>
      </p:sp>
      <p:sp>
        <p:nvSpPr>
          <p:cNvPr id="7" name="Text 5"/>
          <p:cNvSpPr/>
          <p:nvPr/>
        </p:nvSpPr>
        <p:spPr>
          <a:xfrm>
            <a:off x="457200" y="1261872"/>
            <a:ext cx="3867912" cy="3621024"/>
          </a:xfrm>
          <a:prstGeom prst="rect">
            <a:avLst/>
          </a:prstGeom>
          <a:noFill/>
          <a:ln/>
        </p:spPr>
        <p:txBody>
          <a:bodyPr wrap="square" lIns="0" tIns="0" rIns="0" bIns="0" rtlCol="0" anchor="t"/>
          <a:lstStyle/>
          <a:p>
            <a:pPr marL="0" indent="0">
              <a:spcAft>
                <a:spcPts val="600"/>
              </a:spcAft>
              <a:buNone/>
            </a:pPr>
            <a:endParaRPr lang="en-US" sz="1300" dirty="0"/>
          </a:p>
        </p:txBody>
      </p:sp>
      <p:sp>
        <p:nvSpPr>
          <p:cNvPr id="8" name="Shape 6"/>
          <p:cNvSpPr/>
          <p:nvPr/>
        </p:nvSpPr>
        <p:spPr>
          <a:xfrm>
            <a:off x="4727448" y="804672"/>
            <a:ext cx="4160520" cy="4187952"/>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9" name="Shape 7"/>
          <p:cNvSpPr/>
          <p:nvPr/>
        </p:nvSpPr>
        <p:spPr>
          <a:xfrm>
            <a:off x="4727448" y="804672"/>
            <a:ext cx="109728" cy="4187952"/>
          </a:xfrm>
          <a:prstGeom prst="rect">
            <a:avLst/>
          </a:prstGeom>
          <a:solidFill>
            <a:srgbClr val="F59E0B"/>
          </a:solidFill>
          <a:ln w="12700">
            <a:solidFill>
              <a:srgbClr val="F59E0B"/>
            </a:solidFill>
            <a:prstDash val="solid"/>
          </a:ln>
        </p:spPr>
        <p:txBody>
          <a:bodyPr/>
          <a:lstStyle/>
          <a:p>
            <a:endParaRPr lang="en-US"/>
          </a:p>
        </p:txBody>
      </p:sp>
      <p:sp>
        <p:nvSpPr>
          <p:cNvPr id="10" name="Text 8"/>
          <p:cNvSpPr/>
          <p:nvPr/>
        </p:nvSpPr>
        <p:spPr>
          <a:xfrm>
            <a:off x="4928616" y="914400"/>
            <a:ext cx="3886200"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Business Objectives</a:t>
            </a:r>
            <a:endParaRPr lang="en-US" sz="1500" dirty="0"/>
          </a:p>
        </p:txBody>
      </p:sp>
      <p:sp>
        <p:nvSpPr>
          <p:cNvPr id="11" name="Text 9"/>
          <p:cNvSpPr/>
          <p:nvPr/>
        </p:nvSpPr>
        <p:spPr>
          <a:xfrm>
            <a:off x="4928616" y="1261872"/>
            <a:ext cx="3867912" cy="3621024"/>
          </a:xfrm>
          <a:prstGeom prst="rect">
            <a:avLst/>
          </a:prstGeom>
          <a:noFill/>
          <a:ln/>
        </p:spPr>
        <p:txBody>
          <a:bodyPr wrap="square" lIns="0" tIns="0" rIns="0" bIns="0" rtlCol="0" anchor="t"/>
          <a:lstStyle/>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Track revenue, orders, average order value and discount rates</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Identify which products and categories drive the most revenue</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Measure cancellation and refund rates — quantify money lost</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Understand customers — new vs repeat, top spenders, churn</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Identify which commission channels generate most revenue</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Compare revenue across financial years to confirm growth</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Deliver a simple interactive dashboard anyone in the business can use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621792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02  —  Data Pipeline &amp; Cleaning</a:t>
            </a:r>
            <a:endParaRPr lang="en-US" sz="2400" dirty="0"/>
          </a:p>
        </p:txBody>
      </p:sp>
      <p:sp>
        <p:nvSpPr>
          <p:cNvPr id="4" name="Text 2"/>
          <p:cNvSpPr/>
          <p:nvPr/>
        </p:nvSpPr>
        <p:spPr>
          <a:xfrm>
            <a:off x="6400800" y="219456"/>
            <a:ext cx="2468880" cy="256032"/>
          </a:xfrm>
          <a:prstGeom prst="rect">
            <a:avLst/>
          </a:prstGeom>
          <a:noFill/>
          <a:ln/>
        </p:spPr>
        <p:txBody>
          <a:bodyPr wrap="square" lIns="0" tIns="0" rIns="0" bIns="0" rtlCol="0" anchor="ctr"/>
          <a:lstStyle/>
          <a:p>
            <a:pPr marL="0" indent="0" algn="r">
              <a:buNone/>
            </a:pPr>
            <a:r>
              <a:rPr lang="en-US" sz="1100" dirty="0">
                <a:solidFill>
                  <a:srgbClr val="0D9488"/>
                </a:solidFill>
                <a:latin typeface="Calibri" pitchFamily="34" charset="0"/>
                <a:ea typeface="Calibri" pitchFamily="34" charset="-122"/>
                <a:cs typeface="Calibri" pitchFamily="34" charset="-120"/>
              </a:rPr>
              <a:t>Part 1 of 3</a:t>
            </a:r>
            <a:endParaRPr lang="en-US" sz="1100" dirty="0"/>
          </a:p>
        </p:txBody>
      </p:sp>
      <p:sp>
        <p:nvSpPr>
          <p:cNvPr id="5" name="Shape 3"/>
          <p:cNvSpPr/>
          <p:nvPr/>
        </p:nvSpPr>
        <p:spPr>
          <a:xfrm>
            <a:off x="256032" y="804672"/>
            <a:ext cx="1965960" cy="960120"/>
          </a:xfrm>
          <a:prstGeom prst="rect">
            <a:avLst/>
          </a:prstGeom>
          <a:solidFill>
            <a:srgbClr val="0D9488"/>
          </a:solidFill>
          <a:ln w="12700">
            <a:solidFill>
              <a:srgbClr val="0D9488"/>
            </a:solidFill>
            <a:prstDash val="solid"/>
          </a:ln>
          <a:effectLst>
            <a:outerShdw blurRad="101600" dist="38100" dir="8100000" algn="bl" rotWithShape="0">
              <a:srgbClr val="000000">
                <a:alpha val="11000"/>
              </a:srgbClr>
            </a:outerShdw>
          </a:effectLst>
        </p:spPr>
        <p:txBody>
          <a:bodyPr/>
          <a:lstStyle/>
          <a:p>
            <a:endParaRPr lang="en-US"/>
          </a:p>
        </p:txBody>
      </p:sp>
      <p:sp>
        <p:nvSpPr>
          <p:cNvPr id="6" name="Text 4"/>
          <p:cNvSpPr/>
          <p:nvPr/>
        </p:nvSpPr>
        <p:spPr>
          <a:xfrm>
            <a:off x="256032" y="822960"/>
            <a:ext cx="196596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Excel Source</a:t>
            </a:r>
            <a:endParaRPr lang="en-US" sz="1500" dirty="0"/>
          </a:p>
        </p:txBody>
      </p:sp>
      <p:sp>
        <p:nvSpPr>
          <p:cNvPr id="7" name="Text 5"/>
          <p:cNvSpPr/>
          <p:nvPr/>
        </p:nvSpPr>
        <p:spPr>
          <a:xfrm>
            <a:off x="256032" y="1188720"/>
            <a:ext cx="1965960" cy="53035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Sales (77k+)</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Products (84k+)</a:t>
            </a:r>
            <a:endParaRPr lang="en-US" sz="1200" dirty="0"/>
          </a:p>
        </p:txBody>
      </p:sp>
      <p:sp>
        <p:nvSpPr>
          <p:cNvPr id="8" name="Text 6"/>
          <p:cNvSpPr/>
          <p:nvPr/>
        </p:nvSpPr>
        <p:spPr>
          <a:xfrm>
            <a:off x="2249424" y="1170432"/>
            <a:ext cx="164592" cy="292608"/>
          </a:xfrm>
          <a:prstGeom prst="rect">
            <a:avLst/>
          </a:prstGeom>
          <a:noFill/>
          <a:ln/>
        </p:spPr>
        <p:txBody>
          <a:bodyPr wrap="square" lIns="0" tIns="0" rIns="0" bIns="0" rtlCol="0" anchor="ctr"/>
          <a:lstStyle/>
          <a:p>
            <a:pPr marL="0" indent="0" algn="ctr">
              <a:buNone/>
            </a:pPr>
            <a:r>
              <a:rPr lang="en-US" sz="1600" dirty="0">
                <a:solidFill>
                  <a:srgbClr val="64748B"/>
                </a:solidFill>
              </a:rPr>
              <a:t>▶</a:t>
            </a:r>
            <a:endParaRPr lang="en-US" sz="1600" dirty="0"/>
          </a:p>
        </p:txBody>
      </p:sp>
      <p:sp>
        <p:nvSpPr>
          <p:cNvPr id="9" name="Shape 7"/>
          <p:cNvSpPr/>
          <p:nvPr/>
        </p:nvSpPr>
        <p:spPr>
          <a:xfrm>
            <a:off x="2432304" y="804672"/>
            <a:ext cx="1965960" cy="960120"/>
          </a:xfrm>
          <a:prstGeom prst="rect">
            <a:avLst/>
          </a:prstGeom>
          <a:solidFill>
            <a:srgbClr val="0D1B2A"/>
          </a:solidFill>
          <a:ln w="12700">
            <a:solidFill>
              <a:srgbClr val="0D1B2A"/>
            </a:solidFill>
            <a:prstDash val="solid"/>
          </a:ln>
          <a:effectLst>
            <a:outerShdw blurRad="101600" dist="38100" dir="8100000" algn="bl" rotWithShape="0">
              <a:srgbClr val="000000">
                <a:alpha val="11000"/>
              </a:srgbClr>
            </a:outerShdw>
          </a:effectLst>
        </p:spPr>
        <p:txBody>
          <a:bodyPr/>
          <a:lstStyle/>
          <a:p>
            <a:endParaRPr lang="en-US"/>
          </a:p>
        </p:txBody>
      </p:sp>
      <p:sp>
        <p:nvSpPr>
          <p:cNvPr id="10" name="Text 8"/>
          <p:cNvSpPr/>
          <p:nvPr/>
        </p:nvSpPr>
        <p:spPr>
          <a:xfrm>
            <a:off x="2432304" y="822960"/>
            <a:ext cx="196596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Power Query</a:t>
            </a:r>
            <a:endParaRPr lang="en-US" sz="1500" dirty="0"/>
          </a:p>
        </p:txBody>
      </p:sp>
      <p:sp>
        <p:nvSpPr>
          <p:cNvPr id="11" name="Text 9"/>
          <p:cNvSpPr/>
          <p:nvPr/>
        </p:nvSpPr>
        <p:spPr>
          <a:xfrm>
            <a:off x="2432304" y="1188720"/>
            <a:ext cx="1965960" cy="53035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Cleaned &amp;</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transformed</a:t>
            </a:r>
            <a:endParaRPr lang="en-US" sz="1200" dirty="0"/>
          </a:p>
        </p:txBody>
      </p:sp>
      <p:sp>
        <p:nvSpPr>
          <p:cNvPr id="12" name="Text 10"/>
          <p:cNvSpPr/>
          <p:nvPr/>
        </p:nvSpPr>
        <p:spPr>
          <a:xfrm>
            <a:off x="4425696" y="1170432"/>
            <a:ext cx="164592" cy="292608"/>
          </a:xfrm>
          <a:prstGeom prst="rect">
            <a:avLst/>
          </a:prstGeom>
          <a:noFill/>
          <a:ln/>
        </p:spPr>
        <p:txBody>
          <a:bodyPr wrap="square" lIns="0" tIns="0" rIns="0" bIns="0" rtlCol="0" anchor="ctr"/>
          <a:lstStyle/>
          <a:p>
            <a:pPr marL="0" indent="0" algn="ctr">
              <a:buNone/>
            </a:pPr>
            <a:r>
              <a:rPr lang="en-US" sz="1600" dirty="0">
                <a:solidFill>
                  <a:srgbClr val="64748B"/>
                </a:solidFill>
              </a:rPr>
              <a:t>▶</a:t>
            </a:r>
            <a:endParaRPr lang="en-US" sz="1600" dirty="0"/>
          </a:p>
        </p:txBody>
      </p:sp>
      <p:sp>
        <p:nvSpPr>
          <p:cNvPr id="13" name="Shape 11"/>
          <p:cNvSpPr/>
          <p:nvPr/>
        </p:nvSpPr>
        <p:spPr>
          <a:xfrm>
            <a:off x="4608576" y="804672"/>
            <a:ext cx="1965960" cy="960120"/>
          </a:xfrm>
          <a:prstGeom prst="rect">
            <a:avLst/>
          </a:prstGeom>
          <a:solidFill>
            <a:srgbClr val="F59E0B"/>
          </a:solidFill>
          <a:ln w="12700">
            <a:solidFill>
              <a:srgbClr val="F59E0B"/>
            </a:solidFill>
            <a:prstDash val="solid"/>
          </a:ln>
          <a:effectLst>
            <a:outerShdw blurRad="101600" dist="38100" dir="8100000" algn="bl" rotWithShape="0">
              <a:srgbClr val="000000">
                <a:alpha val="11000"/>
              </a:srgbClr>
            </a:outerShdw>
          </a:effectLst>
        </p:spPr>
        <p:txBody>
          <a:bodyPr/>
          <a:lstStyle/>
          <a:p>
            <a:endParaRPr lang="en-US"/>
          </a:p>
        </p:txBody>
      </p:sp>
      <p:sp>
        <p:nvSpPr>
          <p:cNvPr id="14" name="Text 12"/>
          <p:cNvSpPr/>
          <p:nvPr/>
        </p:nvSpPr>
        <p:spPr>
          <a:xfrm>
            <a:off x="4608576" y="822960"/>
            <a:ext cx="196596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MySQL Database</a:t>
            </a:r>
            <a:endParaRPr lang="en-US" sz="1500" dirty="0"/>
          </a:p>
        </p:txBody>
      </p:sp>
      <p:sp>
        <p:nvSpPr>
          <p:cNvPr id="15" name="Text 13"/>
          <p:cNvSpPr/>
          <p:nvPr/>
        </p:nvSpPr>
        <p:spPr>
          <a:xfrm>
            <a:off x="4608576" y="1188720"/>
            <a:ext cx="1965960" cy="53035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EcommerceDW</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14 SQL queries</a:t>
            </a:r>
            <a:endParaRPr lang="en-US" sz="1200" dirty="0"/>
          </a:p>
        </p:txBody>
      </p:sp>
      <p:sp>
        <p:nvSpPr>
          <p:cNvPr id="16" name="Text 14"/>
          <p:cNvSpPr/>
          <p:nvPr/>
        </p:nvSpPr>
        <p:spPr>
          <a:xfrm>
            <a:off x="6601968" y="1170432"/>
            <a:ext cx="164592" cy="292608"/>
          </a:xfrm>
          <a:prstGeom prst="rect">
            <a:avLst/>
          </a:prstGeom>
          <a:noFill/>
          <a:ln/>
        </p:spPr>
        <p:txBody>
          <a:bodyPr wrap="square" lIns="0" tIns="0" rIns="0" bIns="0" rtlCol="0" anchor="ctr"/>
          <a:lstStyle/>
          <a:p>
            <a:pPr marL="0" indent="0" algn="ctr">
              <a:buNone/>
            </a:pPr>
            <a:r>
              <a:rPr lang="en-US" sz="1600" dirty="0">
                <a:solidFill>
                  <a:srgbClr val="64748B"/>
                </a:solidFill>
              </a:rPr>
              <a:t>▶</a:t>
            </a:r>
            <a:endParaRPr lang="en-US" sz="1600" dirty="0"/>
          </a:p>
        </p:txBody>
      </p:sp>
      <p:sp>
        <p:nvSpPr>
          <p:cNvPr id="17" name="Shape 15"/>
          <p:cNvSpPr/>
          <p:nvPr/>
        </p:nvSpPr>
        <p:spPr>
          <a:xfrm>
            <a:off x="6784848" y="804672"/>
            <a:ext cx="1965960" cy="960120"/>
          </a:xfrm>
          <a:prstGeom prst="rect">
            <a:avLst/>
          </a:prstGeom>
          <a:solidFill>
            <a:srgbClr val="7C3AED"/>
          </a:solidFill>
          <a:ln w="12700">
            <a:solidFill>
              <a:srgbClr val="7C3AED"/>
            </a:solidFill>
            <a:prstDash val="solid"/>
          </a:ln>
          <a:effectLst>
            <a:outerShdw blurRad="101600" dist="38100" dir="8100000" algn="bl" rotWithShape="0">
              <a:srgbClr val="000000">
                <a:alpha val="11000"/>
              </a:srgbClr>
            </a:outerShdw>
          </a:effectLst>
        </p:spPr>
        <p:txBody>
          <a:bodyPr/>
          <a:lstStyle/>
          <a:p>
            <a:endParaRPr lang="en-US"/>
          </a:p>
        </p:txBody>
      </p:sp>
      <p:sp>
        <p:nvSpPr>
          <p:cNvPr id="18" name="Text 16"/>
          <p:cNvSpPr/>
          <p:nvPr/>
        </p:nvSpPr>
        <p:spPr>
          <a:xfrm>
            <a:off x="6784848" y="822960"/>
            <a:ext cx="196596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Power BI Model</a:t>
            </a:r>
            <a:endParaRPr lang="en-US" sz="1500" dirty="0"/>
          </a:p>
        </p:txBody>
      </p:sp>
      <p:sp>
        <p:nvSpPr>
          <p:cNvPr id="19" name="Text 17"/>
          <p:cNvSpPr/>
          <p:nvPr/>
        </p:nvSpPr>
        <p:spPr>
          <a:xfrm>
            <a:off x="6784848" y="1188720"/>
            <a:ext cx="1965960" cy="53035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Star Schema</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via SKU_ID</a:t>
            </a:r>
            <a:endParaRPr lang="en-US" sz="1200" dirty="0"/>
          </a:p>
        </p:txBody>
      </p:sp>
      <p:sp>
        <p:nvSpPr>
          <p:cNvPr id="20" name="Shape 18"/>
          <p:cNvSpPr/>
          <p:nvPr/>
        </p:nvSpPr>
        <p:spPr>
          <a:xfrm>
            <a:off x="256032" y="1920240"/>
            <a:ext cx="4160520" cy="301752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21" name="Shape 19"/>
          <p:cNvSpPr/>
          <p:nvPr/>
        </p:nvSpPr>
        <p:spPr>
          <a:xfrm>
            <a:off x="256032" y="1920240"/>
            <a:ext cx="109728" cy="3017520"/>
          </a:xfrm>
          <a:prstGeom prst="rect">
            <a:avLst/>
          </a:prstGeom>
          <a:solidFill>
            <a:srgbClr val="0D9488"/>
          </a:solidFill>
          <a:ln w="12700">
            <a:solidFill>
              <a:srgbClr val="0D9488"/>
            </a:solidFill>
            <a:prstDash val="solid"/>
          </a:ln>
        </p:spPr>
        <p:txBody>
          <a:bodyPr/>
          <a:lstStyle/>
          <a:p>
            <a:endParaRPr lang="en-US"/>
          </a:p>
        </p:txBody>
      </p:sp>
      <p:sp>
        <p:nvSpPr>
          <p:cNvPr id="22" name="Text 20"/>
          <p:cNvSpPr/>
          <p:nvPr/>
        </p:nvSpPr>
        <p:spPr>
          <a:xfrm>
            <a:off x="457200" y="2029968"/>
            <a:ext cx="3886200"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Sales Table — What Was Cleaned</a:t>
            </a:r>
            <a:endParaRPr lang="en-US" sz="1500" dirty="0"/>
          </a:p>
        </p:txBody>
      </p:sp>
      <p:sp>
        <p:nvSpPr>
          <p:cNvPr id="23" name="Text 21"/>
          <p:cNvSpPr/>
          <p:nvPr/>
        </p:nvSpPr>
        <p:spPr>
          <a:xfrm>
            <a:off x="457200" y="2377440"/>
            <a:ext cx="3941064" cy="2560320"/>
          </a:xfrm>
          <a:prstGeom prst="rect">
            <a:avLst/>
          </a:prstGeom>
          <a:noFill/>
          <a:ln/>
        </p:spPr>
        <p:txBody>
          <a:bodyPr wrap="square" lIns="0" tIns="0" rIns="0" bIns="0" rtlCol="0" anchor="t"/>
          <a:lstStyle/>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Removed duplicates, blanks and formula error rows (~314 rows excluded)</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Fixed all column data types — dates, numbers and text</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Standardised Status values using Text.Proper — removed inconsistencies</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Renamed BI Flag to Order Outcome (Confirmed Order / Unconfirmed Order)</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Added Actual Item Total column — Price × Qty − Discount Amount</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Status labels cleaned — underscores removed (e.g. Pending_Paypal → Pending Paypal)</a:t>
            </a:r>
            <a:endParaRPr lang="en-US" sz="1300" dirty="0"/>
          </a:p>
        </p:txBody>
      </p:sp>
      <p:sp>
        <p:nvSpPr>
          <p:cNvPr id="24" name="Shape 22"/>
          <p:cNvSpPr/>
          <p:nvPr/>
        </p:nvSpPr>
        <p:spPr>
          <a:xfrm>
            <a:off x="4727448" y="1920240"/>
            <a:ext cx="4160520" cy="301752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25" name="Shape 23"/>
          <p:cNvSpPr/>
          <p:nvPr/>
        </p:nvSpPr>
        <p:spPr>
          <a:xfrm>
            <a:off x="4727448" y="1920240"/>
            <a:ext cx="109728" cy="3017520"/>
          </a:xfrm>
          <a:prstGeom prst="rect">
            <a:avLst/>
          </a:prstGeom>
          <a:solidFill>
            <a:srgbClr val="F59E0B"/>
          </a:solidFill>
          <a:ln w="12700">
            <a:solidFill>
              <a:srgbClr val="F59E0B"/>
            </a:solidFill>
            <a:prstDash val="solid"/>
          </a:ln>
        </p:spPr>
        <p:txBody>
          <a:bodyPr/>
          <a:lstStyle/>
          <a:p>
            <a:endParaRPr lang="en-US"/>
          </a:p>
        </p:txBody>
      </p:sp>
      <p:sp>
        <p:nvSpPr>
          <p:cNvPr id="26" name="Text 24"/>
          <p:cNvSpPr/>
          <p:nvPr/>
        </p:nvSpPr>
        <p:spPr>
          <a:xfrm>
            <a:off x="4928616" y="2029968"/>
            <a:ext cx="3886200"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Products Table — What Was Cleaned</a:t>
            </a:r>
            <a:endParaRPr lang="en-US" sz="1500" dirty="0"/>
          </a:p>
        </p:txBody>
      </p:sp>
      <p:sp>
        <p:nvSpPr>
          <p:cNvPr id="27" name="Text 25"/>
          <p:cNvSpPr/>
          <p:nvPr/>
        </p:nvSpPr>
        <p:spPr>
          <a:xfrm>
            <a:off x="4928616" y="2377440"/>
            <a:ext cx="3867912" cy="2450592"/>
          </a:xfrm>
          <a:prstGeom prst="rect">
            <a:avLst/>
          </a:prstGeom>
          <a:noFill/>
          <a:ln/>
        </p:spPr>
        <p:txBody>
          <a:bodyPr wrap="square" lIns="0" tIns="0" rIns="0" bIns="0" rtlCol="0" anchor="t"/>
          <a:lstStyle/>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Removed blank and duplicate SKU rows throughout the table</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Standardised Category and SKU column values</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Vendor column removed — full story on the next slide</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Date Table built in DAX — Year, Month, Quarter, Weekday, Financial Year</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Date Table marked as Date Table and linked to Created_At column</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Revenue Rank and Cumulative Revenue % columns added for Pareto chart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621792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02  —  Data Pipeline &amp; Cleaning</a:t>
            </a:r>
            <a:endParaRPr lang="en-US" sz="2400" dirty="0"/>
          </a:p>
        </p:txBody>
      </p:sp>
      <p:sp>
        <p:nvSpPr>
          <p:cNvPr id="4" name="Text 2"/>
          <p:cNvSpPr/>
          <p:nvPr/>
        </p:nvSpPr>
        <p:spPr>
          <a:xfrm>
            <a:off x="6400800" y="219456"/>
            <a:ext cx="2468880" cy="256032"/>
          </a:xfrm>
          <a:prstGeom prst="rect">
            <a:avLst/>
          </a:prstGeom>
          <a:noFill/>
          <a:ln/>
        </p:spPr>
        <p:txBody>
          <a:bodyPr wrap="square" lIns="0" tIns="0" rIns="0" bIns="0" rtlCol="0" anchor="ctr"/>
          <a:lstStyle/>
          <a:p>
            <a:pPr marL="0" indent="0" algn="r">
              <a:buNone/>
            </a:pPr>
            <a:r>
              <a:rPr lang="en-US" sz="1100" dirty="0">
                <a:solidFill>
                  <a:srgbClr val="0D9488"/>
                </a:solidFill>
                <a:latin typeface="Calibri" pitchFamily="34" charset="0"/>
                <a:ea typeface="Calibri" pitchFamily="34" charset="-122"/>
                <a:cs typeface="Calibri" pitchFamily="34" charset="-120"/>
              </a:rPr>
              <a:t>Part 2 of 3 — The Vendor Column</a:t>
            </a:r>
            <a:endParaRPr lang="en-US" sz="1100" dirty="0"/>
          </a:p>
        </p:txBody>
      </p:sp>
      <p:sp>
        <p:nvSpPr>
          <p:cNvPr id="5" name="Text 3"/>
          <p:cNvSpPr/>
          <p:nvPr/>
        </p:nvSpPr>
        <p:spPr>
          <a:xfrm>
            <a:off x="274320" y="804672"/>
            <a:ext cx="8595360" cy="310896"/>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The Vendor column has an interesting story — it was built twice, in two different tools, for two different reasons and later removed completely</a:t>
            </a:r>
            <a:endParaRPr lang="en-US" sz="1300" dirty="0"/>
          </a:p>
        </p:txBody>
      </p:sp>
      <p:sp>
        <p:nvSpPr>
          <p:cNvPr id="6" name="Shape 4"/>
          <p:cNvSpPr/>
          <p:nvPr/>
        </p:nvSpPr>
        <p:spPr>
          <a:xfrm>
            <a:off x="256032" y="1188720"/>
            <a:ext cx="4160520" cy="2322576"/>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7" name="Shape 5"/>
          <p:cNvSpPr/>
          <p:nvPr/>
        </p:nvSpPr>
        <p:spPr>
          <a:xfrm>
            <a:off x="256032" y="1188720"/>
            <a:ext cx="128016" cy="2322576"/>
          </a:xfrm>
          <a:prstGeom prst="rect">
            <a:avLst/>
          </a:prstGeom>
          <a:solidFill>
            <a:srgbClr val="DC2626"/>
          </a:solidFill>
          <a:ln w="12700">
            <a:solidFill>
              <a:srgbClr val="DC2626"/>
            </a:solidFill>
            <a:prstDash val="solid"/>
          </a:ln>
        </p:spPr>
        <p:txBody>
          <a:bodyPr/>
          <a:lstStyle/>
          <a:p>
            <a:endParaRPr lang="en-US"/>
          </a:p>
        </p:txBody>
      </p:sp>
      <p:sp>
        <p:nvSpPr>
          <p:cNvPr id="8" name="Text 6"/>
          <p:cNvSpPr/>
          <p:nvPr/>
        </p:nvSpPr>
        <p:spPr>
          <a:xfrm>
            <a:off x="457200" y="1298448"/>
            <a:ext cx="3886200"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Version 1 — DAX Calculated Column (Original)</a:t>
            </a:r>
            <a:endParaRPr lang="en-US" sz="1500" dirty="0"/>
          </a:p>
        </p:txBody>
      </p:sp>
      <p:sp>
        <p:nvSpPr>
          <p:cNvPr id="9" name="Text 7"/>
          <p:cNvSpPr/>
          <p:nvPr/>
        </p:nvSpPr>
        <p:spPr>
          <a:xfrm>
            <a:off x="457200" y="1645920"/>
            <a:ext cx="3867912" cy="1335024"/>
          </a:xfrm>
          <a:prstGeom prst="rect">
            <a:avLst/>
          </a:prstGeom>
          <a:noFill/>
          <a:ln/>
        </p:spPr>
        <p:txBody>
          <a:bodyPr wrap="square" lIns="0" tIns="0" rIns="0" bIns="0" rtlCol="0" anchor="t"/>
          <a:lstStyle/>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The first Vendor column was created in Power BI using a DAX formula</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Logic: if SKU contains an underscore, take the text before it as the vendor's name</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If SKU has no underscore, label it as Direct Brand</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If SKU is blank, label it as Unknown</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Problem: DAX calculated columns run every time the data refreshes — slower performance on large tables</a:t>
            </a:r>
            <a:endParaRPr lang="en-US" sz="1300" dirty="0"/>
          </a:p>
        </p:txBody>
      </p:sp>
      <p:sp>
        <p:nvSpPr>
          <p:cNvPr id="12" name="Shape 10"/>
          <p:cNvSpPr/>
          <p:nvPr/>
        </p:nvSpPr>
        <p:spPr>
          <a:xfrm>
            <a:off x="4727448" y="1188720"/>
            <a:ext cx="4160520" cy="2304288"/>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3" name="Shape 11"/>
          <p:cNvSpPr/>
          <p:nvPr/>
        </p:nvSpPr>
        <p:spPr>
          <a:xfrm>
            <a:off x="4745736" y="1199270"/>
            <a:ext cx="109728" cy="2293737"/>
          </a:xfrm>
          <a:prstGeom prst="rect">
            <a:avLst/>
          </a:prstGeom>
          <a:solidFill>
            <a:srgbClr val="059669"/>
          </a:solidFill>
          <a:ln w="12700">
            <a:solidFill>
              <a:srgbClr val="059669"/>
            </a:solidFill>
            <a:prstDash val="solid"/>
          </a:ln>
        </p:spPr>
        <p:txBody>
          <a:bodyPr/>
          <a:lstStyle/>
          <a:p>
            <a:endParaRPr lang="en-US"/>
          </a:p>
        </p:txBody>
      </p:sp>
      <p:sp>
        <p:nvSpPr>
          <p:cNvPr id="14" name="Text 12"/>
          <p:cNvSpPr/>
          <p:nvPr/>
        </p:nvSpPr>
        <p:spPr>
          <a:xfrm>
            <a:off x="4928616" y="1298448"/>
            <a:ext cx="3886200"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Version 2 — Power Query Column (Improved)</a:t>
            </a:r>
            <a:endParaRPr lang="en-US" sz="1500" dirty="0"/>
          </a:p>
        </p:txBody>
      </p:sp>
      <p:sp>
        <p:nvSpPr>
          <p:cNvPr id="15" name="Text 13"/>
          <p:cNvSpPr/>
          <p:nvPr/>
        </p:nvSpPr>
        <p:spPr>
          <a:xfrm>
            <a:off x="4928616" y="1645920"/>
            <a:ext cx="3794760" cy="1444752"/>
          </a:xfrm>
          <a:prstGeom prst="rect">
            <a:avLst/>
          </a:prstGeom>
          <a:noFill/>
          <a:ln/>
        </p:spPr>
        <p:txBody>
          <a:bodyPr wrap="square" lIns="0" tIns="0" rIns="0" bIns="0" rtlCol="0" anchor="t"/>
          <a:lstStyle/>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The Vendor column was moved to Power Query during the data cleaning stage</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Same logic: extract text before the underscore as the vendor's name</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Power Query runs once at data load — not on every refresh</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Handles nulls and edge cases more safely than DAX for text operations</a:t>
            </a:r>
            <a:endParaRPr lang="en-US" sz="1300" dirty="0"/>
          </a:p>
        </p:txBody>
      </p:sp>
      <p:sp>
        <p:nvSpPr>
          <p:cNvPr id="17" name="Text 15"/>
          <p:cNvSpPr/>
          <p:nvPr/>
        </p:nvSpPr>
        <p:spPr>
          <a:xfrm>
            <a:off x="4727448" y="3584448"/>
            <a:ext cx="3995928" cy="347472"/>
          </a:xfrm>
          <a:prstGeom prst="rect">
            <a:avLst/>
          </a:prstGeom>
          <a:noFill/>
          <a:ln/>
        </p:spPr>
        <p:txBody>
          <a:bodyPr wrap="square" lIns="0" tIns="0" rIns="0" bIns="0" rtlCol="0" anchor="ctr"/>
          <a:lstStyle/>
          <a:p>
            <a:pPr marL="0" indent="0">
              <a:buNone/>
            </a:pPr>
            <a:endParaRPr lang="en-US" sz="1200" dirty="0"/>
          </a:p>
        </p:txBody>
      </p:sp>
      <p:sp>
        <p:nvSpPr>
          <p:cNvPr id="18" name="Shape 16"/>
          <p:cNvSpPr/>
          <p:nvPr/>
        </p:nvSpPr>
        <p:spPr>
          <a:xfrm>
            <a:off x="182880" y="3913632"/>
            <a:ext cx="8705088" cy="1042416"/>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r>
              <a:rPr lang="en-US" sz="1400" dirty="0"/>
              <a:t>Vendor names in this dataset are not stored as a separate field. They are embedded inside the SKU code as a prefix before the underscore. Due to data type inconsistencies in the SKU column, vendor extraction could not be completed reliably. Revenue by Sales Channel on the Sales page provides an alternative view of partner performance using the Sales Commission Code instead.</a:t>
            </a:r>
          </a:p>
        </p:txBody>
      </p:sp>
      <p:sp>
        <p:nvSpPr>
          <p:cNvPr id="19" name="Shape 17"/>
          <p:cNvSpPr/>
          <p:nvPr/>
        </p:nvSpPr>
        <p:spPr>
          <a:xfrm>
            <a:off x="219456" y="3563612"/>
            <a:ext cx="8631936" cy="310896"/>
          </a:xfrm>
          <a:prstGeom prst="rect">
            <a:avLst/>
          </a:prstGeom>
          <a:solidFill>
            <a:srgbClr val="0D1B2A"/>
          </a:solidFill>
          <a:ln w="12700">
            <a:solidFill>
              <a:srgbClr val="0D1B2A"/>
            </a:solidFill>
            <a:prstDash val="solid"/>
          </a:ln>
        </p:spPr>
        <p:txBody>
          <a:bodyPr/>
          <a:lstStyle/>
          <a:p>
            <a:endParaRPr lang="en-US"/>
          </a:p>
        </p:txBody>
      </p:sp>
      <p:sp>
        <p:nvSpPr>
          <p:cNvPr id="20" name="Text 18"/>
          <p:cNvSpPr/>
          <p:nvPr/>
        </p:nvSpPr>
        <p:spPr>
          <a:xfrm>
            <a:off x="256032" y="3584448"/>
            <a:ext cx="8631936" cy="274320"/>
          </a:xfrm>
          <a:prstGeom prst="rect">
            <a:avLst/>
          </a:prstGeom>
          <a:noFill/>
          <a:ln/>
        </p:spPr>
        <p:txBody>
          <a:bodyPr wrap="square" lIns="0" tIns="0" rIns="0" bIns="0" rtlCol="0" anchor="ctr"/>
          <a:lstStyle/>
          <a:p>
            <a:pPr marL="0" indent="0" algn="ctr">
              <a:buNone/>
            </a:pPr>
            <a:r>
              <a:rPr lang="en-US" sz="1600" dirty="0">
                <a:solidFill>
                  <a:schemeClr val="bg1"/>
                </a:solidFill>
              </a:rPr>
              <a:t>Why It Was Removed</a:t>
            </a:r>
          </a:p>
        </p:txBody>
      </p:sp>
      <p:sp>
        <p:nvSpPr>
          <p:cNvPr id="21" name="Text 19"/>
          <p:cNvSpPr/>
          <p:nvPr/>
        </p:nvSpPr>
        <p:spPr>
          <a:xfrm>
            <a:off x="402336" y="3913632"/>
            <a:ext cx="8321040" cy="969264"/>
          </a:xfrm>
          <a:prstGeom prst="rect">
            <a:avLst/>
          </a:prstGeom>
          <a:noFill/>
          <a:ln/>
        </p:spPr>
        <p:txBody>
          <a:bodyPr wrap="square" lIns="0" tIns="0" rIns="0" bIns="0" rtlCol="0" anchor="t"/>
          <a:lstStyle/>
          <a:p>
            <a:pPr>
              <a:spcAft>
                <a:spcPts val="400"/>
              </a:spcAft>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621792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02  —  Data Pipeline &amp; Cleaning</a:t>
            </a:r>
            <a:endParaRPr lang="en-US" sz="2400" dirty="0"/>
          </a:p>
        </p:txBody>
      </p:sp>
      <p:sp>
        <p:nvSpPr>
          <p:cNvPr id="4" name="Text 2"/>
          <p:cNvSpPr/>
          <p:nvPr/>
        </p:nvSpPr>
        <p:spPr>
          <a:xfrm>
            <a:off x="6400800" y="219456"/>
            <a:ext cx="2468880" cy="256032"/>
          </a:xfrm>
          <a:prstGeom prst="rect">
            <a:avLst/>
          </a:prstGeom>
          <a:noFill/>
          <a:ln/>
        </p:spPr>
        <p:txBody>
          <a:bodyPr wrap="square" lIns="0" tIns="0" rIns="0" bIns="0" rtlCol="0" anchor="ctr"/>
          <a:lstStyle/>
          <a:p>
            <a:pPr marL="0" indent="0" algn="r">
              <a:buNone/>
            </a:pPr>
            <a:r>
              <a:rPr lang="en-US" sz="1100" dirty="0">
                <a:solidFill>
                  <a:srgbClr val="0D9488"/>
                </a:solidFill>
                <a:latin typeface="Calibri" pitchFamily="34" charset="0"/>
                <a:ea typeface="Calibri" pitchFamily="34" charset="-122"/>
                <a:cs typeface="Calibri" pitchFamily="34" charset="-120"/>
              </a:rPr>
              <a:t>Part 3 of 3 — All Calculated Columns</a:t>
            </a:r>
            <a:endParaRPr lang="en-US" sz="1100" dirty="0"/>
          </a:p>
        </p:txBody>
      </p:sp>
      <p:sp>
        <p:nvSpPr>
          <p:cNvPr id="5" name="Text 3"/>
          <p:cNvSpPr/>
          <p:nvPr/>
        </p:nvSpPr>
        <p:spPr>
          <a:xfrm>
            <a:off x="274320" y="804672"/>
            <a:ext cx="8595360" cy="2743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These columns were added to enrich the data beyond what the source files originally provided:</a:t>
            </a:r>
            <a:endParaRPr lang="en-US" sz="1300" dirty="0"/>
          </a:p>
        </p:txBody>
      </p:sp>
      <p:sp>
        <p:nvSpPr>
          <p:cNvPr id="6" name="Shape 4"/>
          <p:cNvSpPr/>
          <p:nvPr/>
        </p:nvSpPr>
        <p:spPr>
          <a:xfrm>
            <a:off x="256032" y="1152144"/>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7" name="Shape 5"/>
          <p:cNvSpPr/>
          <p:nvPr/>
        </p:nvSpPr>
        <p:spPr>
          <a:xfrm>
            <a:off x="256032" y="1152144"/>
            <a:ext cx="109728" cy="822960"/>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438912" y="1243584"/>
            <a:ext cx="3968496"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Order Outcome</a:t>
            </a:r>
            <a:endParaRPr lang="en-US" sz="1500" dirty="0"/>
          </a:p>
        </p:txBody>
      </p:sp>
      <p:sp>
        <p:nvSpPr>
          <p:cNvPr id="9" name="Text 7"/>
          <p:cNvSpPr/>
          <p:nvPr/>
        </p:nvSpPr>
        <p:spPr>
          <a:xfrm>
            <a:off x="438912" y="1554480"/>
            <a:ext cx="3968496" cy="365760"/>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Labels each order Successful or Unsuccessful — filters out cancelled and refunded orders from revenue reports</a:t>
            </a:r>
            <a:endParaRPr lang="en-US" sz="1200" dirty="0"/>
          </a:p>
        </p:txBody>
      </p:sp>
      <p:sp>
        <p:nvSpPr>
          <p:cNvPr id="10" name="Shape 8"/>
          <p:cNvSpPr/>
          <p:nvPr/>
        </p:nvSpPr>
        <p:spPr>
          <a:xfrm>
            <a:off x="4700016" y="1152144"/>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1" name="Shape 9"/>
          <p:cNvSpPr/>
          <p:nvPr/>
        </p:nvSpPr>
        <p:spPr>
          <a:xfrm>
            <a:off x="4700016" y="1152144"/>
            <a:ext cx="109728" cy="822960"/>
          </a:xfrm>
          <a:prstGeom prst="rect">
            <a:avLst/>
          </a:prstGeom>
          <a:solidFill>
            <a:srgbClr val="0D1B2A"/>
          </a:solidFill>
          <a:ln w="12700">
            <a:solidFill>
              <a:srgbClr val="0D1B2A"/>
            </a:solidFill>
            <a:prstDash val="solid"/>
          </a:ln>
        </p:spPr>
        <p:txBody>
          <a:bodyPr/>
          <a:lstStyle/>
          <a:p>
            <a:endParaRPr lang="en-US"/>
          </a:p>
        </p:txBody>
      </p:sp>
      <p:sp>
        <p:nvSpPr>
          <p:cNvPr id="12" name="Text 10"/>
          <p:cNvSpPr/>
          <p:nvPr/>
        </p:nvSpPr>
        <p:spPr>
          <a:xfrm>
            <a:off x="4882896" y="1243584"/>
            <a:ext cx="3968496"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Actual Item Total</a:t>
            </a:r>
            <a:endParaRPr lang="en-US" sz="1500" dirty="0"/>
          </a:p>
        </p:txBody>
      </p:sp>
      <p:sp>
        <p:nvSpPr>
          <p:cNvPr id="13" name="Text 11"/>
          <p:cNvSpPr/>
          <p:nvPr/>
        </p:nvSpPr>
        <p:spPr>
          <a:xfrm>
            <a:off x="4882896" y="1554480"/>
            <a:ext cx="3968496" cy="365760"/>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Price × Quantity − Discount — gives the real value of each line item after discounts</a:t>
            </a:r>
            <a:endParaRPr lang="en-US" sz="1200" dirty="0"/>
          </a:p>
        </p:txBody>
      </p:sp>
      <p:sp>
        <p:nvSpPr>
          <p:cNvPr id="16" name="Text 14"/>
          <p:cNvSpPr/>
          <p:nvPr/>
        </p:nvSpPr>
        <p:spPr>
          <a:xfrm>
            <a:off x="438912" y="2194560"/>
            <a:ext cx="3968496" cy="256032"/>
          </a:xfrm>
          <a:prstGeom prst="rect">
            <a:avLst/>
          </a:prstGeom>
          <a:noFill/>
          <a:ln/>
        </p:spPr>
        <p:txBody>
          <a:bodyPr wrap="square" lIns="0" tIns="0" rIns="0" bIns="0" rtlCol="0" anchor="ctr"/>
          <a:lstStyle/>
          <a:p>
            <a:pPr marL="0" indent="0">
              <a:buNone/>
            </a:pPr>
            <a:endParaRPr lang="en-US" sz="1500" dirty="0"/>
          </a:p>
        </p:txBody>
      </p:sp>
      <p:sp>
        <p:nvSpPr>
          <p:cNvPr id="17" name="Text 15"/>
          <p:cNvSpPr/>
          <p:nvPr/>
        </p:nvSpPr>
        <p:spPr>
          <a:xfrm>
            <a:off x="438912" y="2505456"/>
            <a:ext cx="3968496" cy="365760"/>
          </a:xfrm>
          <a:prstGeom prst="rect">
            <a:avLst/>
          </a:prstGeom>
          <a:noFill/>
          <a:ln/>
        </p:spPr>
        <p:txBody>
          <a:bodyPr wrap="square" lIns="0" tIns="0" rIns="0" bIns="0" rtlCol="0" anchor="t"/>
          <a:lstStyle/>
          <a:p>
            <a:pPr marL="0" indent="0">
              <a:buNone/>
            </a:pPr>
            <a:endParaRPr lang="en-US" sz="1200" dirty="0"/>
          </a:p>
        </p:txBody>
      </p:sp>
      <p:sp>
        <p:nvSpPr>
          <p:cNvPr id="18" name="Shape 16"/>
          <p:cNvSpPr/>
          <p:nvPr/>
        </p:nvSpPr>
        <p:spPr>
          <a:xfrm>
            <a:off x="4700016" y="2103120"/>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9" name="Shape 17"/>
          <p:cNvSpPr/>
          <p:nvPr/>
        </p:nvSpPr>
        <p:spPr>
          <a:xfrm>
            <a:off x="4700016" y="2103120"/>
            <a:ext cx="109728" cy="822960"/>
          </a:xfrm>
          <a:prstGeom prst="rect">
            <a:avLst/>
          </a:prstGeom>
          <a:solidFill>
            <a:srgbClr val="7C3AED"/>
          </a:solidFill>
          <a:ln w="12700">
            <a:solidFill>
              <a:srgbClr val="7C3AED"/>
            </a:solidFill>
            <a:prstDash val="solid"/>
          </a:ln>
        </p:spPr>
        <p:txBody>
          <a:bodyPr/>
          <a:lstStyle/>
          <a:p>
            <a:endParaRPr lang="en-US"/>
          </a:p>
        </p:txBody>
      </p:sp>
      <p:sp>
        <p:nvSpPr>
          <p:cNvPr id="20" name="Text 18"/>
          <p:cNvSpPr/>
          <p:nvPr/>
        </p:nvSpPr>
        <p:spPr>
          <a:xfrm>
            <a:off x="4882896" y="2194560"/>
            <a:ext cx="3968496"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Commission Channel</a:t>
            </a:r>
            <a:endParaRPr lang="en-US" sz="1500" dirty="0"/>
          </a:p>
        </p:txBody>
      </p:sp>
      <p:sp>
        <p:nvSpPr>
          <p:cNvPr id="21" name="Text 19"/>
          <p:cNvSpPr/>
          <p:nvPr/>
        </p:nvSpPr>
        <p:spPr>
          <a:xfrm>
            <a:off x="4882896" y="2505456"/>
            <a:ext cx="3968496" cy="365760"/>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Extracted from the Sales Commission Code middle segment — shows which partner each order belongs to</a:t>
            </a:r>
            <a:endParaRPr lang="en-US" sz="1200" dirty="0"/>
          </a:p>
        </p:txBody>
      </p:sp>
      <p:sp>
        <p:nvSpPr>
          <p:cNvPr id="22" name="Shape 20"/>
          <p:cNvSpPr/>
          <p:nvPr/>
        </p:nvSpPr>
        <p:spPr>
          <a:xfrm>
            <a:off x="292608" y="2112264"/>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23" name="Shape 21"/>
          <p:cNvSpPr/>
          <p:nvPr/>
        </p:nvSpPr>
        <p:spPr>
          <a:xfrm>
            <a:off x="219456" y="2112264"/>
            <a:ext cx="109728" cy="822960"/>
          </a:xfrm>
          <a:prstGeom prst="rect">
            <a:avLst/>
          </a:prstGeom>
          <a:solidFill>
            <a:srgbClr val="0F766E"/>
          </a:solidFill>
          <a:ln w="12700">
            <a:solidFill>
              <a:srgbClr val="0F766E"/>
            </a:solidFill>
            <a:prstDash val="solid"/>
          </a:ln>
        </p:spPr>
        <p:txBody>
          <a:bodyPr/>
          <a:lstStyle/>
          <a:p>
            <a:endParaRPr lang="en-US"/>
          </a:p>
        </p:txBody>
      </p:sp>
      <p:sp>
        <p:nvSpPr>
          <p:cNvPr id="24" name="Text 22"/>
          <p:cNvSpPr/>
          <p:nvPr/>
        </p:nvSpPr>
        <p:spPr>
          <a:xfrm>
            <a:off x="384048" y="2122111"/>
            <a:ext cx="3968496"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Customer Type</a:t>
            </a:r>
            <a:endParaRPr lang="en-US" sz="1500" dirty="0"/>
          </a:p>
        </p:txBody>
      </p:sp>
      <p:sp>
        <p:nvSpPr>
          <p:cNvPr id="25" name="Text 23"/>
          <p:cNvSpPr/>
          <p:nvPr/>
        </p:nvSpPr>
        <p:spPr>
          <a:xfrm>
            <a:off x="365760" y="2486464"/>
            <a:ext cx="3968496" cy="365760"/>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Repeat Customer or New Customer — checks if Customer ID appears more than once in the dataset</a:t>
            </a:r>
            <a:endParaRPr lang="en-US" sz="1200" dirty="0"/>
          </a:p>
        </p:txBody>
      </p:sp>
      <p:sp>
        <p:nvSpPr>
          <p:cNvPr id="28" name="Text 26"/>
          <p:cNvSpPr/>
          <p:nvPr/>
        </p:nvSpPr>
        <p:spPr>
          <a:xfrm>
            <a:off x="4882896" y="3145536"/>
            <a:ext cx="3968496" cy="256032"/>
          </a:xfrm>
          <a:prstGeom prst="rect">
            <a:avLst/>
          </a:prstGeom>
          <a:noFill/>
          <a:ln/>
        </p:spPr>
        <p:txBody>
          <a:bodyPr wrap="square" lIns="0" tIns="0" rIns="0" bIns="0" rtlCol="0" anchor="ctr"/>
          <a:lstStyle/>
          <a:p>
            <a:pPr marL="0" indent="0">
              <a:buNone/>
            </a:pPr>
            <a:endParaRPr lang="en-US" sz="1500" dirty="0"/>
          </a:p>
        </p:txBody>
      </p:sp>
      <p:sp>
        <p:nvSpPr>
          <p:cNvPr id="29" name="Text 27"/>
          <p:cNvSpPr/>
          <p:nvPr/>
        </p:nvSpPr>
        <p:spPr>
          <a:xfrm>
            <a:off x="4882896" y="3456432"/>
            <a:ext cx="3968496" cy="365760"/>
          </a:xfrm>
          <a:prstGeom prst="rect">
            <a:avLst/>
          </a:prstGeom>
          <a:noFill/>
          <a:ln/>
        </p:spPr>
        <p:txBody>
          <a:bodyPr wrap="square" lIns="0" tIns="0" rIns="0" bIns="0" rtlCol="0" anchor="t"/>
          <a:lstStyle/>
          <a:p>
            <a:pPr marL="0" indent="0">
              <a:buNone/>
            </a:pPr>
            <a:endParaRPr lang="en-US" sz="1200" dirty="0"/>
          </a:p>
        </p:txBody>
      </p:sp>
      <p:sp>
        <p:nvSpPr>
          <p:cNvPr id="30" name="Shape 28"/>
          <p:cNvSpPr/>
          <p:nvPr/>
        </p:nvSpPr>
        <p:spPr>
          <a:xfrm>
            <a:off x="283464" y="3076956"/>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31" name="Shape 29"/>
          <p:cNvSpPr/>
          <p:nvPr/>
        </p:nvSpPr>
        <p:spPr>
          <a:xfrm>
            <a:off x="228600" y="3076956"/>
            <a:ext cx="109728" cy="822960"/>
          </a:xfrm>
          <a:prstGeom prst="rect">
            <a:avLst/>
          </a:prstGeom>
          <a:solidFill>
            <a:srgbClr val="F59E0B"/>
          </a:solidFill>
          <a:ln w="12700">
            <a:solidFill>
              <a:srgbClr val="F59E0B"/>
            </a:solidFill>
            <a:prstDash val="solid"/>
          </a:ln>
        </p:spPr>
        <p:txBody>
          <a:bodyPr/>
          <a:lstStyle/>
          <a:p>
            <a:endParaRPr lang="en-US"/>
          </a:p>
        </p:txBody>
      </p:sp>
      <p:sp>
        <p:nvSpPr>
          <p:cNvPr id="32" name="Text 30"/>
          <p:cNvSpPr/>
          <p:nvPr/>
        </p:nvSpPr>
        <p:spPr>
          <a:xfrm>
            <a:off x="393192" y="3098408"/>
            <a:ext cx="3968496"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Acquisition Year</a:t>
            </a:r>
            <a:endParaRPr lang="en-US" sz="1500" dirty="0"/>
          </a:p>
        </p:txBody>
      </p:sp>
      <p:sp>
        <p:nvSpPr>
          <p:cNvPr id="33" name="Text 31"/>
          <p:cNvSpPr/>
          <p:nvPr/>
        </p:nvSpPr>
        <p:spPr>
          <a:xfrm>
            <a:off x="420624" y="3412822"/>
            <a:ext cx="3968496" cy="365760"/>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Extracts the year from Customer Since date — used to track which year each customer first bought</a:t>
            </a:r>
            <a:endParaRPr lang="en-US" sz="1200" dirty="0"/>
          </a:p>
        </p:txBody>
      </p:sp>
      <p:sp>
        <p:nvSpPr>
          <p:cNvPr id="34" name="Shape 32"/>
          <p:cNvSpPr/>
          <p:nvPr/>
        </p:nvSpPr>
        <p:spPr>
          <a:xfrm>
            <a:off x="4700016" y="3154680"/>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35" name="Shape 33"/>
          <p:cNvSpPr/>
          <p:nvPr/>
        </p:nvSpPr>
        <p:spPr>
          <a:xfrm>
            <a:off x="4700016" y="3154680"/>
            <a:ext cx="109728" cy="822960"/>
          </a:xfrm>
          <a:prstGeom prst="rect">
            <a:avLst/>
          </a:prstGeom>
          <a:solidFill>
            <a:srgbClr val="DC2626"/>
          </a:solidFill>
          <a:ln w="12700">
            <a:solidFill>
              <a:srgbClr val="DC2626"/>
            </a:solidFill>
            <a:prstDash val="solid"/>
          </a:ln>
        </p:spPr>
        <p:txBody>
          <a:bodyPr/>
          <a:lstStyle/>
          <a:p>
            <a:endParaRPr lang="en-US"/>
          </a:p>
        </p:txBody>
      </p:sp>
      <p:sp>
        <p:nvSpPr>
          <p:cNvPr id="36" name="Text 34"/>
          <p:cNvSpPr/>
          <p:nvPr/>
        </p:nvSpPr>
        <p:spPr>
          <a:xfrm>
            <a:off x="4809744" y="3113532"/>
            <a:ext cx="3968496"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Revenue Rank + Cumulative %</a:t>
            </a:r>
            <a:endParaRPr lang="en-US" sz="1500" dirty="0"/>
          </a:p>
        </p:txBody>
      </p:sp>
      <p:sp>
        <p:nvSpPr>
          <p:cNvPr id="37" name="Text 35"/>
          <p:cNvSpPr/>
          <p:nvPr/>
        </p:nvSpPr>
        <p:spPr>
          <a:xfrm>
            <a:off x="4846320" y="3465576"/>
            <a:ext cx="3968496" cy="365760"/>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Ranks products by revenue and calculates running cumulative % — both used to build the Pareto chart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621792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03  —  Exploratory Data Analysis</a:t>
            </a:r>
            <a:endParaRPr lang="en-US" sz="2400" dirty="0"/>
          </a:p>
        </p:txBody>
      </p:sp>
      <p:sp>
        <p:nvSpPr>
          <p:cNvPr id="4" name="Text 2"/>
          <p:cNvSpPr/>
          <p:nvPr/>
        </p:nvSpPr>
        <p:spPr>
          <a:xfrm>
            <a:off x="6400800" y="219456"/>
            <a:ext cx="2468880" cy="256032"/>
          </a:xfrm>
          <a:prstGeom prst="rect">
            <a:avLst/>
          </a:prstGeom>
          <a:noFill/>
          <a:ln/>
        </p:spPr>
        <p:txBody>
          <a:bodyPr wrap="square" lIns="0" tIns="0" rIns="0" bIns="0" rtlCol="0" anchor="ctr"/>
          <a:lstStyle/>
          <a:p>
            <a:pPr marL="0" indent="0" algn="r">
              <a:buNone/>
            </a:pPr>
            <a:r>
              <a:rPr lang="en-US" sz="1100" dirty="0">
                <a:solidFill>
                  <a:srgbClr val="0D9488"/>
                </a:solidFill>
                <a:latin typeface="Calibri" pitchFamily="34" charset="0"/>
                <a:ea typeface="Calibri" pitchFamily="34" charset="-122"/>
                <a:cs typeface="Calibri" pitchFamily="34" charset="-120"/>
              </a:rPr>
              <a:t>Part 1 — What We Found First</a:t>
            </a:r>
            <a:endParaRPr lang="en-US" sz="1100" dirty="0"/>
          </a:p>
        </p:txBody>
      </p:sp>
      <p:sp>
        <p:nvSpPr>
          <p:cNvPr id="5" name="Text 3"/>
          <p:cNvSpPr/>
          <p:nvPr/>
        </p:nvSpPr>
        <p:spPr>
          <a:xfrm>
            <a:off x="274320" y="804672"/>
            <a:ext cx="8595360" cy="292608"/>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Before building any dashboards, we explored the raw data to understand what was in it. Here is what we found:</a:t>
            </a:r>
            <a:endParaRPr lang="en-US" sz="1300" dirty="0"/>
          </a:p>
        </p:txBody>
      </p:sp>
      <p:sp>
        <p:nvSpPr>
          <p:cNvPr id="6" name="Shape 4"/>
          <p:cNvSpPr/>
          <p:nvPr/>
        </p:nvSpPr>
        <p:spPr>
          <a:xfrm>
            <a:off x="256032" y="1170432"/>
            <a:ext cx="2816352" cy="3822192"/>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7" name="Shape 5"/>
          <p:cNvSpPr/>
          <p:nvPr/>
        </p:nvSpPr>
        <p:spPr>
          <a:xfrm>
            <a:off x="256032" y="1170432"/>
            <a:ext cx="2816352" cy="347472"/>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310896" y="1207008"/>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 Quality &amp; Scale</a:t>
            </a:r>
            <a:endParaRPr lang="en-US" sz="1200" dirty="0"/>
          </a:p>
        </p:txBody>
      </p:sp>
      <p:sp>
        <p:nvSpPr>
          <p:cNvPr id="9" name="Text 7"/>
          <p:cNvSpPr/>
          <p:nvPr/>
        </p:nvSpPr>
        <p:spPr>
          <a:xfrm>
            <a:off x="365760" y="1572768"/>
            <a:ext cx="2615184" cy="3346704"/>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77,000+ sales transactions across 2016–2018</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84,000+ product records in the Product Master table</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All sales rows successfully matched a product via SKU_ID</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Created_At confirmed as proper Date type in Power Query</a:t>
            </a:r>
            <a:endParaRPr lang="en-US" sz="1300" dirty="0"/>
          </a:p>
        </p:txBody>
      </p:sp>
      <p:sp>
        <p:nvSpPr>
          <p:cNvPr id="10" name="Shape 8"/>
          <p:cNvSpPr/>
          <p:nvPr/>
        </p:nvSpPr>
        <p:spPr>
          <a:xfrm>
            <a:off x="3200400" y="1170432"/>
            <a:ext cx="2816352" cy="3822192"/>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1" name="Shape 9"/>
          <p:cNvSpPr/>
          <p:nvPr/>
        </p:nvSpPr>
        <p:spPr>
          <a:xfrm>
            <a:off x="3200400" y="1170432"/>
            <a:ext cx="2816352" cy="347472"/>
          </a:xfrm>
          <a:prstGeom prst="rect">
            <a:avLst/>
          </a:prstGeom>
          <a:solidFill>
            <a:srgbClr val="0D1B2A"/>
          </a:solidFill>
          <a:ln w="12700">
            <a:solidFill>
              <a:srgbClr val="0D1B2A"/>
            </a:solidFill>
            <a:prstDash val="solid"/>
          </a:ln>
        </p:spPr>
        <p:txBody>
          <a:bodyPr/>
          <a:lstStyle/>
          <a:p>
            <a:endParaRPr lang="en-US"/>
          </a:p>
        </p:txBody>
      </p:sp>
      <p:sp>
        <p:nvSpPr>
          <p:cNvPr id="12" name="Text 10"/>
          <p:cNvSpPr/>
          <p:nvPr/>
        </p:nvSpPr>
        <p:spPr>
          <a:xfrm>
            <a:off x="3255264" y="1207008"/>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Distribution &amp; Skewness</a:t>
            </a:r>
            <a:endParaRPr lang="en-US" sz="1200" dirty="0"/>
          </a:p>
        </p:txBody>
      </p:sp>
      <p:sp>
        <p:nvSpPr>
          <p:cNvPr id="13" name="Text 11"/>
          <p:cNvSpPr/>
          <p:nvPr/>
        </p:nvSpPr>
        <p:spPr>
          <a:xfrm>
            <a:off x="3310128" y="1572768"/>
            <a:ext cx="2615184" cy="3346704"/>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Mean (average) order value is HIGHER than the median</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This means the data is right-skewed — positively skewed</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A small number of very large orders pull the average up</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The median gives a more honest picture of a typical order</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Outlier orders detected above the calculated IQR threshold</a:t>
            </a:r>
            <a:endParaRPr lang="en-US" sz="1300" dirty="0"/>
          </a:p>
        </p:txBody>
      </p:sp>
      <p:sp>
        <p:nvSpPr>
          <p:cNvPr id="14" name="Shape 12"/>
          <p:cNvSpPr/>
          <p:nvPr/>
        </p:nvSpPr>
        <p:spPr>
          <a:xfrm>
            <a:off x="6144768" y="1170432"/>
            <a:ext cx="2816352" cy="3822192"/>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5" name="Shape 13"/>
          <p:cNvSpPr/>
          <p:nvPr/>
        </p:nvSpPr>
        <p:spPr>
          <a:xfrm>
            <a:off x="6144768" y="1170432"/>
            <a:ext cx="2816352" cy="347472"/>
          </a:xfrm>
          <a:prstGeom prst="rect">
            <a:avLst/>
          </a:prstGeom>
          <a:solidFill>
            <a:srgbClr val="7C3AED"/>
          </a:solidFill>
          <a:ln w="12700">
            <a:solidFill>
              <a:srgbClr val="7C3AED"/>
            </a:solidFill>
            <a:prstDash val="solid"/>
          </a:ln>
        </p:spPr>
        <p:txBody>
          <a:bodyPr/>
          <a:lstStyle/>
          <a:p>
            <a:endParaRPr lang="en-US"/>
          </a:p>
        </p:txBody>
      </p:sp>
      <p:sp>
        <p:nvSpPr>
          <p:cNvPr id="16" name="Text 14"/>
          <p:cNvSpPr/>
          <p:nvPr/>
        </p:nvSpPr>
        <p:spPr>
          <a:xfrm>
            <a:off x="6199632" y="1207008"/>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Patterns Found in the Data</a:t>
            </a:r>
            <a:endParaRPr lang="en-US" sz="1200" dirty="0"/>
          </a:p>
        </p:txBody>
      </p:sp>
      <p:sp>
        <p:nvSpPr>
          <p:cNvPr id="17" name="Text 15"/>
          <p:cNvSpPr/>
          <p:nvPr/>
        </p:nvSpPr>
        <p:spPr>
          <a:xfrm>
            <a:off x="6254496" y="1572768"/>
            <a:ext cx="2615184" cy="3346704"/>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16% cancellation rate found — guided the problem statement</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COD identified as the dominant payment method</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Revenue grew 147% from 2016 to 2017 — very strong year</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2018 data is a partial year — declining trend is misleading</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a:t>
            </a:r>
          </a:p>
          <a:p>
            <a:pPr marL="0" indent="0">
              <a:spcAft>
                <a:spcPts val="500"/>
              </a:spcAft>
              <a:buNone/>
            </a:pP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621792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03  —  Exploratory Data Analysis</a:t>
            </a:r>
            <a:endParaRPr lang="en-US" sz="2400" dirty="0"/>
          </a:p>
        </p:txBody>
      </p:sp>
      <p:sp>
        <p:nvSpPr>
          <p:cNvPr id="4" name="Text 2"/>
          <p:cNvSpPr/>
          <p:nvPr/>
        </p:nvSpPr>
        <p:spPr>
          <a:xfrm>
            <a:off x="6400800" y="219456"/>
            <a:ext cx="2468880" cy="256032"/>
          </a:xfrm>
          <a:prstGeom prst="rect">
            <a:avLst/>
          </a:prstGeom>
          <a:noFill/>
          <a:ln/>
        </p:spPr>
        <p:txBody>
          <a:bodyPr wrap="square" lIns="0" tIns="0" rIns="0" bIns="0" rtlCol="0" anchor="ctr"/>
          <a:lstStyle/>
          <a:p>
            <a:pPr marL="0" indent="0" algn="r">
              <a:buNone/>
            </a:pPr>
            <a:r>
              <a:rPr lang="en-US" sz="1100" dirty="0">
                <a:solidFill>
                  <a:srgbClr val="0D9488"/>
                </a:solidFill>
                <a:latin typeface="Calibri" pitchFamily="34" charset="0"/>
                <a:ea typeface="Calibri" pitchFamily="34" charset="-122"/>
                <a:cs typeface="Calibri" pitchFamily="34" charset="-120"/>
              </a:rPr>
              <a:t>Part 2 — Correlations Tested</a:t>
            </a:r>
            <a:endParaRPr lang="en-US" sz="1100" dirty="0"/>
          </a:p>
        </p:txBody>
      </p:sp>
      <p:sp>
        <p:nvSpPr>
          <p:cNvPr id="5" name="Text 3"/>
          <p:cNvSpPr/>
          <p:nvPr/>
        </p:nvSpPr>
        <p:spPr>
          <a:xfrm>
            <a:off x="274320" y="804672"/>
            <a:ext cx="8595360" cy="292608"/>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We tested whether key variables had any meaningful relationship with revenue. Both returned zero correlation:</a:t>
            </a:r>
            <a:endParaRPr lang="en-US" sz="1300" dirty="0"/>
          </a:p>
        </p:txBody>
      </p:sp>
      <p:sp>
        <p:nvSpPr>
          <p:cNvPr id="6" name="Shape 4"/>
          <p:cNvSpPr/>
          <p:nvPr/>
        </p:nvSpPr>
        <p:spPr>
          <a:xfrm>
            <a:off x="256032" y="1188720"/>
            <a:ext cx="8631936" cy="1755648"/>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7" name="Shape 5"/>
          <p:cNvSpPr/>
          <p:nvPr/>
        </p:nvSpPr>
        <p:spPr>
          <a:xfrm>
            <a:off x="256032" y="1188720"/>
            <a:ext cx="109728" cy="1755648"/>
          </a:xfrm>
          <a:prstGeom prst="rect">
            <a:avLst/>
          </a:prstGeom>
          <a:solidFill>
            <a:srgbClr val="0D1B2A"/>
          </a:solidFill>
          <a:ln w="12700">
            <a:solidFill>
              <a:srgbClr val="0D1B2A"/>
            </a:solidFill>
            <a:prstDash val="solid"/>
          </a:ln>
        </p:spPr>
        <p:txBody>
          <a:bodyPr/>
          <a:lstStyle/>
          <a:p>
            <a:endParaRPr lang="en-US"/>
          </a:p>
        </p:txBody>
      </p:sp>
      <p:sp>
        <p:nvSpPr>
          <p:cNvPr id="8" name="Shape 6"/>
          <p:cNvSpPr/>
          <p:nvPr/>
        </p:nvSpPr>
        <p:spPr>
          <a:xfrm>
            <a:off x="6894576" y="1280160"/>
            <a:ext cx="1883664" cy="329184"/>
          </a:xfrm>
          <a:prstGeom prst="rect">
            <a:avLst/>
          </a:prstGeom>
          <a:solidFill>
            <a:srgbClr val="DC2626"/>
          </a:solidFill>
          <a:ln w="12700">
            <a:solidFill>
              <a:srgbClr val="DC2626"/>
            </a:solidFill>
            <a:prstDash val="solid"/>
          </a:ln>
        </p:spPr>
        <p:txBody>
          <a:bodyPr/>
          <a:lstStyle/>
          <a:p>
            <a:endParaRPr lang="en-US"/>
          </a:p>
        </p:txBody>
      </p:sp>
      <p:sp>
        <p:nvSpPr>
          <p:cNvPr id="9" name="Text 7"/>
          <p:cNvSpPr/>
          <p:nvPr/>
        </p:nvSpPr>
        <p:spPr>
          <a:xfrm>
            <a:off x="6894576" y="1280160"/>
            <a:ext cx="188366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 RELATIONSHIP FOUND</a:t>
            </a:r>
            <a:endParaRPr lang="en-US" sz="1100" dirty="0"/>
          </a:p>
        </p:txBody>
      </p:sp>
      <p:sp>
        <p:nvSpPr>
          <p:cNvPr id="10" name="Text 8"/>
          <p:cNvSpPr/>
          <p:nvPr/>
        </p:nvSpPr>
        <p:spPr>
          <a:xfrm>
            <a:off x="438912" y="1298448"/>
            <a:ext cx="6345936" cy="2743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Revenue vs Quantity Sold — Zero Correlation</a:t>
            </a:r>
            <a:endParaRPr lang="en-US" sz="1500" dirty="0"/>
          </a:p>
        </p:txBody>
      </p:sp>
      <p:sp>
        <p:nvSpPr>
          <p:cNvPr id="11" name="Text 9"/>
          <p:cNvSpPr/>
          <p:nvPr/>
        </p:nvSpPr>
        <p:spPr>
          <a:xfrm>
            <a:off x="438912" y="1627632"/>
            <a:ext cx="8321040" cy="1234440"/>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Selling more items does NOT guarantee more revenue in this business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Some single-item orders generate more revenue than multi-item orders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Pricing is inconsistent across products — some items are underpriced</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Quantity alone cannot be used to predict or grow revenue</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Business implication: fix pricing strategy, not just volume targets</a:t>
            </a:r>
            <a:endParaRPr lang="en-US" sz="1300" dirty="0"/>
          </a:p>
        </p:txBody>
      </p:sp>
      <p:sp>
        <p:nvSpPr>
          <p:cNvPr id="12" name="Shape 10"/>
          <p:cNvSpPr/>
          <p:nvPr/>
        </p:nvSpPr>
        <p:spPr>
          <a:xfrm>
            <a:off x="256032" y="3090672"/>
            <a:ext cx="8631936" cy="1755648"/>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3" name="Shape 11"/>
          <p:cNvSpPr/>
          <p:nvPr/>
        </p:nvSpPr>
        <p:spPr>
          <a:xfrm>
            <a:off x="256032" y="3090672"/>
            <a:ext cx="109728" cy="1755648"/>
          </a:xfrm>
          <a:prstGeom prst="rect">
            <a:avLst/>
          </a:prstGeom>
          <a:solidFill>
            <a:srgbClr val="DC2626"/>
          </a:solidFill>
          <a:ln w="12700">
            <a:solidFill>
              <a:srgbClr val="DC2626"/>
            </a:solidFill>
            <a:prstDash val="solid"/>
          </a:ln>
        </p:spPr>
        <p:txBody>
          <a:bodyPr/>
          <a:lstStyle/>
          <a:p>
            <a:endParaRPr lang="en-US"/>
          </a:p>
        </p:txBody>
      </p:sp>
      <p:sp>
        <p:nvSpPr>
          <p:cNvPr id="14" name="Shape 12"/>
          <p:cNvSpPr/>
          <p:nvPr/>
        </p:nvSpPr>
        <p:spPr>
          <a:xfrm>
            <a:off x="6894576" y="3182112"/>
            <a:ext cx="1883664" cy="329184"/>
          </a:xfrm>
          <a:prstGeom prst="rect">
            <a:avLst/>
          </a:prstGeom>
          <a:solidFill>
            <a:srgbClr val="DC2626"/>
          </a:solidFill>
          <a:ln w="12700">
            <a:solidFill>
              <a:srgbClr val="DC2626"/>
            </a:solidFill>
            <a:prstDash val="solid"/>
          </a:ln>
        </p:spPr>
        <p:txBody>
          <a:bodyPr/>
          <a:lstStyle/>
          <a:p>
            <a:endParaRPr lang="en-US"/>
          </a:p>
        </p:txBody>
      </p:sp>
      <p:sp>
        <p:nvSpPr>
          <p:cNvPr id="15" name="Text 13"/>
          <p:cNvSpPr/>
          <p:nvPr/>
        </p:nvSpPr>
        <p:spPr>
          <a:xfrm>
            <a:off x="6894576" y="3182112"/>
            <a:ext cx="188366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 RELATIONSHIP FOUND</a:t>
            </a:r>
            <a:endParaRPr lang="en-US" sz="1100" dirty="0"/>
          </a:p>
        </p:txBody>
      </p:sp>
      <p:sp>
        <p:nvSpPr>
          <p:cNvPr id="16" name="Text 14"/>
          <p:cNvSpPr/>
          <p:nvPr/>
        </p:nvSpPr>
        <p:spPr>
          <a:xfrm>
            <a:off x="438912" y="3200400"/>
            <a:ext cx="6345936" cy="2743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Revenue vs Discounts Given — Zero Correlation</a:t>
            </a:r>
            <a:endParaRPr lang="en-US" sz="1500" dirty="0"/>
          </a:p>
        </p:txBody>
      </p:sp>
      <p:sp>
        <p:nvSpPr>
          <p:cNvPr id="17" name="Text 15"/>
          <p:cNvSpPr/>
          <p:nvPr/>
        </p:nvSpPr>
        <p:spPr>
          <a:xfrm>
            <a:off x="438912" y="3529584"/>
            <a:ext cx="8321040" cy="1234440"/>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Giving discounts has NO measurable impact on revenue whatsoever</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Every discount given is pure cost with no return benefit</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Customers do not spend more when discounts are applied</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The business is giving money away without increasing orders or spend</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Business implication: stop blanket discounts, use targeted ones only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621792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04  —  DAX Measures &amp; Calculations</a:t>
            </a:r>
            <a:endParaRPr lang="en-US" sz="2400" dirty="0"/>
          </a:p>
        </p:txBody>
      </p:sp>
      <p:sp>
        <p:nvSpPr>
          <p:cNvPr id="4" name="Text 2"/>
          <p:cNvSpPr/>
          <p:nvPr/>
        </p:nvSpPr>
        <p:spPr>
          <a:xfrm>
            <a:off x="6400800" y="219456"/>
            <a:ext cx="2468880" cy="256032"/>
          </a:xfrm>
          <a:prstGeom prst="rect">
            <a:avLst/>
          </a:prstGeom>
          <a:noFill/>
          <a:ln/>
        </p:spPr>
        <p:txBody>
          <a:bodyPr wrap="square" lIns="0" tIns="0" rIns="0" bIns="0" rtlCol="0" anchor="ctr"/>
          <a:lstStyle/>
          <a:p>
            <a:pPr marL="0" indent="0" algn="r">
              <a:buNone/>
            </a:pPr>
            <a:r>
              <a:rPr lang="en-US" sz="1100" dirty="0">
                <a:solidFill>
                  <a:srgbClr val="0D9488"/>
                </a:solidFill>
                <a:latin typeface="Calibri" pitchFamily="34" charset="0"/>
                <a:ea typeface="Calibri" pitchFamily="34" charset="-122"/>
                <a:cs typeface="Calibri" pitchFamily="34" charset="-120"/>
              </a:rPr>
              <a:t>Part 1 of 2</a:t>
            </a:r>
            <a:endParaRPr lang="en-US" sz="1100" dirty="0"/>
          </a:p>
        </p:txBody>
      </p:sp>
      <p:sp>
        <p:nvSpPr>
          <p:cNvPr id="5" name="Shape 3"/>
          <p:cNvSpPr/>
          <p:nvPr/>
        </p:nvSpPr>
        <p:spPr>
          <a:xfrm>
            <a:off x="256032" y="804672"/>
            <a:ext cx="2816352" cy="420624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6" name="Shape 4"/>
          <p:cNvSpPr/>
          <p:nvPr/>
        </p:nvSpPr>
        <p:spPr>
          <a:xfrm>
            <a:off x="256032" y="804672"/>
            <a:ext cx="2816352" cy="347472"/>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310896" y="841248"/>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Revenue &amp; Orders</a:t>
            </a:r>
            <a:endParaRPr lang="en-US" sz="1200" dirty="0"/>
          </a:p>
        </p:txBody>
      </p:sp>
      <p:sp>
        <p:nvSpPr>
          <p:cNvPr id="8" name="Text 6"/>
          <p:cNvSpPr/>
          <p:nvPr/>
        </p:nvSpPr>
        <p:spPr>
          <a:xfrm>
            <a:off x="365760" y="1207008"/>
            <a:ext cx="2615184" cy="3730752"/>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Total Revenue, Total Orders, Average Order Value</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Total Discount, Average Discount Rate</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Total Items Sold, Revenue Per Item</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Net Revenue — revenue after all discounts applied</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Discounted vs Non-Discounted Revenue</a:t>
            </a:r>
            <a:endParaRPr lang="en-US" sz="1300" dirty="0"/>
          </a:p>
        </p:txBody>
      </p:sp>
      <p:sp>
        <p:nvSpPr>
          <p:cNvPr id="9" name="Shape 7"/>
          <p:cNvSpPr/>
          <p:nvPr/>
        </p:nvSpPr>
        <p:spPr>
          <a:xfrm>
            <a:off x="3200400" y="804672"/>
            <a:ext cx="2816352" cy="420624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0" name="Shape 8"/>
          <p:cNvSpPr/>
          <p:nvPr/>
        </p:nvSpPr>
        <p:spPr>
          <a:xfrm>
            <a:off x="3200400" y="804672"/>
            <a:ext cx="2816352" cy="347472"/>
          </a:xfrm>
          <a:prstGeom prst="rect">
            <a:avLst/>
          </a:prstGeom>
          <a:solidFill>
            <a:srgbClr val="0D1B2A"/>
          </a:solidFill>
          <a:ln w="12700">
            <a:solidFill>
              <a:srgbClr val="0D1B2A"/>
            </a:solidFill>
            <a:prstDash val="solid"/>
          </a:ln>
        </p:spPr>
        <p:txBody>
          <a:bodyPr/>
          <a:lstStyle/>
          <a:p>
            <a:endParaRPr lang="en-US"/>
          </a:p>
        </p:txBody>
      </p:sp>
      <p:sp>
        <p:nvSpPr>
          <p:cNvPr id="11" name="Text 9"/>
          <p:cNvSpPr/>
          <p:nvPr/>
        </p:nvSpPr>
        <p:spPr>
          <a:xfrm>
            <a:off x="3255264" y="841248"/>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Order Status &amp; Operations</a:t>
            </a:r>
            <a:endParaRPr lang="en-US" sz="1200" dirty="0"/>
          </a:p>
        </p:txBody>
      </p:sp>
      <p:sp>
        <p:nvSpPr>
          <p:cNvPr id="12" name="Text 10"/>
          <p:cNvSpPr/>
          <p:nvPr/>
        </p:nvSpPr>
        <p:spPr>
          <a:xfrm>
            <a:off x="3310128" y="1207008"/>
            <a:ext cx="2615184" cy="3730752"/>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Total Completed, Cancelled, Refunded, Pending</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Cancellation Rate — 16% of all orders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Refund Rate — 1% of all orders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Completion Rate — % of orders that succeeded</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Lost Revenue — KES 199M from cancellations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Lost Revenue % — 30% of total revenue lost</a:t>
            </a:r>
            <a:endParaRPr lang="en-US" sz="1300" dirty="0"/>
          </a:p>
        </p:txBody>
      </p:sp>
      <p:sp>
        <p:nvSpPr>
          <p:cNvPr id="13" name="Shape 11"/>
          <p:cNvSpPr/>
          <p:nvPr/>
        </p:nvSpPr>
        <p:spPr>
          <a:xfrm>
            <a:off x="6144768" y="804672"/>
            <a:ext cx="2816352" cy="420624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4" name="Shape 12"/>
          <p:cNvSpPr/>
          <p:nvPr/>
        </p:nvSpPr>
        <p:spPr>
          <a:xfrm>
            <a:off x="6144768" y="804672"/>
            <a:ext cx="2816352" cy="347472"/>
          </a:xfrm>
          <a:prstGeom prst="rect">
            <a:avLst/>
          </a:prstGeom>
          <a:solidFill>
            <a:srgbClr val="7C3AED"/>
          </a:solidFill>
          <a:ln w="12700">
            <a:solidFill>
              <a:srgbClr val="7C3AED"/>
            </a:solidFill>
            <a:prstDash val="solid"/>
          </a:ln>
        </p:spPr>
        <p:txBody>
          <a:bodyPr/>
          <a:lstStyle/>
          <a:p>
            <a:endParaRPr lang="en-US"/>
          </a:p>
        </p:txBody>
      </p:sp>
      <p:sp>
        <p:nvSpPr>
          <p:cNvPr id="15" name="Text 13"/>
          <p:cNvSpPr/>
          <p:nvPr/>
        </p:nvSpPr>
        <p:spPr>
          <a:xfrm>
            <a:off x="6199632" y="841248"/>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Customer Analysis</a:t>
            </a:r>
            <a:endParaRPr lang="en-US" sz="1200" dirty="0"/>
          </a:p>
        </p:txBody>
      </p:sp>
      <p:sp>
        <p:nvSpPr>
          <p:cNvPr id="16" name="Text 14"/>
          <p:cNvSpPr/>
          <p:nvPr/>
        </p:nvSpPr>
        <p:spPr>
          <a:xfrm>
            <a:off x="6254496" y="1207008"/>
            <a:ext cx="2615184" cy="3730752"/>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Unique Customers, Revenue Per Customer</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Repeat vs New Customers count</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Repeat Customer Rate — % who came back</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Customer Cancellation Rate</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Churned Customers &amp; Churn Rate</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Discounted Customers vs Non-Discounted Customers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Top 10 Customer Revenue %</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621792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04  —  DAX Measures &amp; Calculations</a:t>
            </a:r>
            <a:endParaRPr lang="en-US" sz="2400" dirty="0"/>
          </a:p>
        </p:txBody>
      </p:sp>
      <p:sp>
        <p:nvSpPr>
          <p:cNvPr id="4" name="Text 2"/>
          <p:cNvSpPr/>
          <p:nvPr/>
        </p:nvSpPr>
        <p:spPr>
          <a:xfrm>
            <a:off x="6400800" y="219456"/>
            <a:ext cx="2468880" cy="256032"/>
          </a:xfrm>
          <a:prstGeom prst="rect">
            <a:avLst/>
          </a:prstGeom>
          <a:noFill/>
          <a:ln/>
        </p:spPr>
        <p:txBody>
          <a:bodyPr wrap="square" lIns="0" tIns="0" rIns="0" bIns="0" rtlCol="0" anchor="ctr"/>
          <a:lstStyle/>
          <a:p>
            <a:pPr marL="0" indent="0" algn="r">
              <a:buNone/>
            </a:pPr>
            <a:r>
              <a:rPr lang="en-US" sz="1100" dirty="0">
                <a:solidFill>
                  <a:srgbClr val="0D9488"/>
                </a:solidFill>
                <a:latin typeface="Calibri" pitchFamily="34" charset="0"/>
                <a:ea typeface="Calibri" pitchFamily="34" charset="-122"/>
                <a:cs typeface="Calibri" pitchFamily="34" charset="-120"/>
              </a:rPr>
              <a:t>Part 2 of 2</a:t>
            </a:r>
            <a:endParaRPr lang="en-US" sz="1100" dirty="0"/>
          </a:p>
        </p:txBody>
      </p:sp>
      <p:sp>
        <p:nvSpPr>
          <p:cNvPr id="5" name="Shape 3"/>
          <p:cNvSpPr/>
          <p:nvPr/>
        </p:nvSpPr>
        <p:spPr>
          <a:xfrm>
            <a:off x="256032" y="804672"/>
            <a:ext cx="2816352" cy="420624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6" name="Shape 4"/>
          <p:cNvSpPr/>
          <p:nvPr/>
        </p:nvSpPr>
        <p:spPr>
          <a:xfrm>
            <a:off x="256032" y="804672"/>
            <a:ext cx="2816352" cy="347472"/>
          </a:xfrm>
          <a:prstGeom prst="rect">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310896" y="841248"/>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Products &amp; Commission</a:t>
            </a:r>
            <a:endParaRPr lang="en-US" sz="1200" dirty="0"/>
          </a:p>
        </p:txBody>
      </p:sp>
      <p:sp>
        <p:nvSpPr>
          <p:cNvPr id="8" name="Text 6"/>
          <p:cNvSpPr/>
          <p:nvPr/>
        </p:nvSpPr>
        <p:spPr>
          <a:xfrm>
            <a:off x="365760" y="1207008"/>
            <a:ext cx="2615184" cy="3730752"/>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Total Products — DISTINCTCOUNT of SKU IDs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Top 20 Products Revenue</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Revenue by Commission Channel</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Category Revenue % contribution</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Revenue Target — 20% above prior year</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Avg Customer Tenure Days</a:t>
            </a:r>
            <a:endParaRPr lang="en-US" sz="1300" dirty="0"/>
          </a:p>
        </p:txBody>
      </p:sp>
      <p:sp>
        <p:nvSpPr>
          <p:cNvPr id="9" name="Shape 7"/>
          <p:cNvSpPr/>
          <p:nvPr/>
        </p:nvSpPr>
        <p:spPr>
          <a:xfrm>
            <a:off x="3200400" y="804672"/>
            <a:ext cx="2816352" cy="420624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0" name="Shape 8"/>
          <p:cNvSpPr/>
          <p:nvPr/>
        </p:nvSpPr>
        <p:spPr>
          <a:xfrm>
            <a:off x="3200400" y="804672"/>
            <a:ext cx="2816352" cy="347472"/>
          </a:xfrm>
          <a:prstGeom prst="rect">
            <a:avLst/>
          </a:prstGeom>
          <a:solidFill>
            <a:srgbClr val="0F766E"/>
          </a:solidFill>
          <a:ln w="12700">
            <a:solidFill>
              <a:srgbClr val="0F766E"/>
            </a:solidFill>
            <a:prstDash val="solid"/>
          </a:ln>
        </p:spPr>
        <p:txBody>
          <a:bodyPr/>
          <a:lstStyle/>
          <a:p>
            <a:endParaRPr lang="en-US"/>
          </a:p>
        </p:txBody>
      </p:sp>
      <p:sp>
        <p:nvSpPr>
          <p:cNvPr id="11" name="Text 9"/>
          <p:cNvSpPr/>
          <p:nvPr/>
        </p:nvSpPr>
        <p:spPr>
          <a:xfrm>
            <a:off x="3255264" y="841248"/>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Time Intelligence</a:t>
            </a:r>
            <a:endParaRPr lang="en-US" sz="1200" dirty="0"/>
          </a:p>
        </p:txBody>
      </p:sp>
      <p:sp>
        <p:nvSpPr>
          <p:cNvPr id="12" name="Text 10"/>
          <p:cNvSpPr/>
          <p:nvPr/>
        </p:nvSpPr>
        <p:spPr>
          <a:xfrm>
            <a:off x="3310128" y="1207008"/>
            <a:ext cx="2615184" cy="3730752"/>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Revenue MTD, QTD, YTD — running totals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Revenue Last Month — prior month comparison</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MoM Revenue Change — used in waterfall chart</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MoM Growth Rate — month on month %</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Revenue SPLY — same period last year</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YoY Growth Rate, Opening &amp; Closing Balance</a:t>
            </a:r>
            <a:endParaRPr lang="en-US" sz="1300" dirty="0"/>
          </a:p>
        </p:txBody>
      </p:sp>
      <p:sp>
        <p:nvSpPr>
          <p:cNvPr id="13" name="Shape 11"/>
          <p:cNvSpPr/>
          <p:nvPr/>
        </p:nvSpPr>
        <p:spPr>
          <a:xfrm>
            <a:off x="6144768" y="804672"/>
            <a:ext cx="2816352" cy="420624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4" name="Shape 12"/>
          <p:cNvSpPr/>
          <p:nvPr/>
        </p:nvSpPr>
        <p:spPr>
          <a:xfrm>
            <a:off x="6144768" y="804672"/>
            <a:ext cx="2816352" cy="347472"/>
          </a:xfrm>
          <a:prstGeom prst="rect">
            <a:avLst/>
          </a:prstGeom>
          <a:solidFill>
            <a:srgbClr val="B45309"/>
          </a:solidFill>
          <a:ln w="12700">
            <a:solidFill>
              <a:srgbClr val="B45309"/>
            </a:solidFill>
            <a:prstDash val="solid"/>
          </a:ln>
        </p:spPr>
        <p:txBody>
          <a:bodyPr/>
          <a:lstStyle/>
          <a:p>
            <a:endParaRPr lang="en-US"/>
          </a:p>
        </p:txBody>
      </p:sp>
      <p:sp>
        <p:nvSpPr>
          <p:cNvPr id="15" name="Text 13"/>
          <p:cNvSpPr/>
          <p:nvPr/>
        </p:nvSpPr>
        <p:spPr>
          <a:xfrm>
            <a:off x="6199632" y="841248"/>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EDA &amp; Data Quality</a:t>
            </a:r>
            <a:endParaRPr lang="en-US" sz="1200" dirty="0"/>
          </a:p>
        </p:txBody>
      </p:sp>
      <p:sp>
        <p:nvSpPr>
          <p:cNvPr id="16" name="Text 14"/>
          <p:cNvSpPr/>
          <p:nvPr/>
        </p:nvSpPr>
        <p:spPr>
          <a:xfrm>
            <a:off x="6254496" y="1207008"/>
            <a:ext cx="2615184" cy="3730752"/>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Median Order Value — more honest than mean</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Revenue Std Dev, Q1, Q3, IQR (all hidden)</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Outlier Threshold — flags abnormal orders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Outlier Orders &amp; Outlier Revenue</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Skewness Indicator — confirms right skew</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Excluded Rows &amp; Matched Products</a:t>
            </a:r>
            <a:endParaRPr lang="en-US" sz="1300" dirty="0"/>
          </a:p>
        </p:txBody>
      </p:sp>
      <p:sp>
        <p:nvSpPr>
          <p:cNvPr id="17" name="Shape 15"/>
          <p:cNvSpPr/>
          <p:nvPr/>
        </p:nvSpPr>
        <p:spPr>
          <a:xfrm>
            <a:off x="256032" y="5074920"/>
            <a:ext cx="8631936" cy="0"/>
          </a:xfrm>
          <a:prstGeom prst="rect">
            <a:avLst/>
          </a:prstGeom>
          <a:solidFill>
            <a:srgbClr val="F8FAFC"/>
          </a:solidFill>
          <a:ln w="12700">
            <a:solidFill>
              <a:srgbClr val="E2E8F0"/>
            </a:solidFill>
            <a:prstDash val="solid"/>
          </a:ln>
        </p:spPr>
        <p:txBody>
          <a:bodyPr/>
          <a:lstStyle/>
          <a:p>
            <a:endParaRPr lang="en-US"/>
          </a:p>
        </p:txBody>
      </p:sp>
      <p:sp>
        <p:nvSpPr>
          <p:cNvPr id="18" name="Text 16"/>
          <p:cNvSpPr/>
          <p:nvPr/>
        </p:nvSpPr>
        <p:spPr>
          <a:xfrm>
            <a:off x="347472" y="5074920"/>
            <a:ext cx="8467344" cy="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ℹ  </a:t>
            </a:r>
            <a:endParaRPr lang="en-US" sz="1200" dirty="0"/>
          </a:p>
        </p:txBody>
      </p:sp>
      <p:sp>
        <p:nvSpPr>
          <p:cNvPr id="19" name="Text 17"/>
          <p:cNvSpPr/>
          <p:nvPr/>
        </p:nvSpPr>
        <p:spPr>
          <a:xfrm>
            <a:off x="256032" y="4736592"/>
            <a:ext cx="8631936" cy="201168"/>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All measures stored in a dedicated Measures table — keeps the Fields pane clean and follows Power BI best practice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841248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05  —  SQL Validation — MySQL Database</a:t>
            </a:r>
            <a:endParaRPr lang="en-US" sz="2400" dirty="0"/>
          </a:p>
        </p:txBody>
      </p:sp>
      <p:sp>
        <p:nvSpPr>
          <p:cNvPr id="6" name="Text 4"/>
          <p:cNvSpPr/>
          <p:nvPr/>
        </p:nvSpPr>
        <p:spPr>
          <a:xfrm>
            <a:off x="256032" y="722376"/>
            <a:ext cx="3886200"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What Was Done in MySQL</a:t>
            </a:r>
            <a:endParaRPr lang="en-US" sz="1500" dirty="0"/>
          </a:p>
        </p:txBody>
      </p:sp>
      <p:sp>
        <p:nvSpPr>
          <p:cNvPr id="7" name="Text 5"/>
          <p:cNvSpPr/>
          <p:nvPr/>
        </p:nvSpPr>
        <p:spPr>
          <a:xfrm>
            <a:off x="196947" y="1046988"/>
            <a:ext cx="3867912" cy="2377440"/>
          </a:xfrm>
          <a:prstGeom prst="rect">
            <a:avLst/>
          </a:prstGeom>
          <a:noFill/>
          <a:ln/>
        </p:spPr>
        <p:txBody>
          <a:bodyPr wrap="square" lIns="0" tIns="0" rIns="0" bIns="0" rtlCol="0" anchor="t"/>
          <a:lstStyle/>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Created EcommerceDW database in MySQL Workbench</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Imported Sales (77k+ rows) and Products (84k+ rows)</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Set timeout commands to handle large file import without cutoff</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Tables linked via SKU_ID — confirmed with EER diagram</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14 validation queries run across all key business metrics</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~314 row gap between MySQL and Power BI documented and explained</a:t>
            </a:r>
            <a:endParaRPr lang="en-US" sz="1300" dirty="0"/>
          </a:p>
        </p:txBody>
      </p:sp>
      <p:sp>
        <p:nvSpPr>
          <p:cNvPr id="8" name="Text 6"/>
          <p:cNvSpPr/>
          <p:nvPr/>
        </p:nvSpPr>
        <p:spPr>
          <a:xfrm>
            <a:off x="118872" y="3202471"/>
            <a:ext cx="4160520" cy="2743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SQL  ↔  Power BI Cross-Validation</a:t>
            </a:r>
            <a:endParaRPr lang="en-US" sz="1500" dirty="0"/>
          </a:p>
        </p:txBody>
      </p:sp>
      <p:sp>
        <p:nvSpPr>
          <p:cNvPr id="10" name="Shape 7"/>
          <p:cNvSpPr/>
          <p:nvPr/>
        </p:nvSpPr>
        <p:spPr>
          <a:xfrm>
            <a:off x="4727448" y="804672"/>
            <a:ext cx="4160520" cy="2057400"/>
          </a:xfrm>
          <a:prstGeom prst="rect">
            <a:avLst/>
          </a:prstGeom>
          <a:solidFill>
            <a:srgbClr val="E2E8F0"/>
          </a:solidFill>
          <a:ln w="12700">
            <a:solidFill>
              <a:srgbClr val="CBD5E1"/>
            </a:solidFill>
            <a:prstDash val="dash"/>
          </a:ln>
        </p:spPr>
        <p:txBody>
          <a:bodyPr/>
          <a:lstStyle/>
          <a:p>
            <a:endParaRPr lang="en-US"/>
          </a:p>
        </p:txBody>
      </p:sp>
      <p:sp>
        <p:nvSpPr>
          <p:cNvPr id="11" name="Text 8"/>
          <p:cNvSpPr/>
          <p:nvPr/>
        </p:nvSpPr>
        <p:spPr>
          <a:xfrm>
            <a:off x="4727448" y="804672"/>
            <a:ext cx="4160520" cy="205740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 Paste — MySQL EER Diagram Screenshot ]</a:t>
            </a:r>
            <a:endParaRPr lang="en-US" sz="1300" dirty="0"/>
          </a:p>
        </p:txBody>
      </p:sp>
      <p:sp>
        <p:nvSpPr>
          <p:cNvPr id="9" name="Shape 9"/>
          <p:cNvSpPr/>
          <p:nvPr/>
        </p:nvSpPr>
        <p:spPr>
          <a:xfrm>
            <a:off x="4727448" y="2999232"/>
            <a:ext cx="4160520" cy="2048256"/>
          </a:xfrm>
          <a:prstGeom prst="rect">
            <a:avLst/>
          </a:prstGeom>
          <a:solidFill>
            <a:srgbClr val="E2E8F0"/>
          </a:solidFill>
          <a:ln w="12700">
            <a:solidFill>
              <a:srgbClr val="CBD5E1"/>
            </a:solidFill>
            <a:prstDash val="dash"/>
          </a:ln>
        </p:spPr>
        <p:txBody>
          <a:bodyPr/>
          <a:lstStyle/>
          <a:p>
            <a:endParaRPr lang="en-US"/>
          </a:p>
        </p:txBody>
      </p:sp>
      <p:sp>
        <p:nvSpPr>
          <p:cNvPr id="13" name="Text 10"/>
          <p:cNvSpPr/>
          <p:nvPr/>
        </p:nvSpPr>
        <p:spPr>
          <a:xfrm>
            <a:off x="4727448" y="2999232"/>
            <a:ext cx="4160520" cy="2048256"/>
          </a:xfrm>
          <a:prstGeom prst="rect">
            <a:avLst/>
          </a:prstGeom>
          <a:noFill/>
          <a:ln/>
        </p:spPr>
        <p:txBody>
          <a:bodyPr wrap="square" lIns="0" tIns="0" rIns="0" bIns="0" rtlCol="0" anchor="ctr"/>
          <a:lstStyle/>
          <a:p>
            <a:pPr marL="0" indent="0" algn="ctr">
              <a:buNone/>
            </a:pPr>
            <a:endParaRPr lang="en-US" sz="1300" dirty="0"/>
          </a:p>
        </p:txBody>
      </p:sp>
      <p:pic>
        <p:nvPicPr>
          <p:cNvPr id="14" name="Picture 13">
            <a:extLst>
              <a:ext uri="{FF2B5EF4-FFF2-40B4-BE49-F238E27FC236}">
                <a16:creationId xmlns:a16="http://schemas.microsoft.com/office/drawing/2014/main" id="{43631DDD-8B05-1C81-9390-154EB51C08CC}"/>
              </a:ext>
            </a:extLst>
          </p:cNvPr>
          <p:cNvPicPr>
            <a:picLocks noChangeAspect="1"/>
          </p:cNvPicPr>
          <p:nvPr/>
        </p:nvPicPr>
        <p:blipFill>
          <a:blip r:embed="rId3"/>
          <a:stretch>
            <a:fillRect/>
          </a:stretch>
        </p:blipFill>
        <p:spPr>
          <a:xfrm>
            <a:off x="4727449" y="804671"/>
            <a:ext cx="4160520" cy="2057399"/>
          </a:xfrm>
          <a:prstGeom prst="rect">
            <a:avLst/>
          </a:prstGeom>
        </p:spPr>
      </p:pic>
      <p:pic>
        <p:nvPicPr>
          <p:cNvPr id="15" name="Picture 14">
            <a:extLst>
              <a:ext uri="{FF2B5EF4-FFF2-40B4-BE49-F238E27FC236}">
                <a16:creationId xmlns:a16="http://schemas.microsoft.com/office/drawing/2014/main" id="{1152A954-8A9B-D164-8E37-FB98F9BFAC77}"/>
              </a:ext>
            </a:extLst>
          </p:cNvPr>
          <p:cNvPicPr>
            <a:picLocks noChangeAspect="1"/>
          </p:cNvPicPr>
          <p:nvPr/>
        </p:nvPicPr>
        <p:blipFill>
          <a:blip r:embed="rId4"/>
          <a:stretch>
            <a:fillRect/>
          </a:stretch>
        </p:blipFill>
        <p:spPr>
          <a:xfrm>
            <a:off x="4727449" y="2999232"/>
            <a:ext cx="1926503" cy="914479"/>
          </a:xfrm>
          <a:prstGeom prst="rect">
            <a:avLst/>
          </a:prstGeom>
        </p:spPr>
      </p:pic>
      <p:pic>
        <p:nvPicPr>
          <p:cNvPr id="16" name="Picture 15">
            <a:extLst>
              <a:ext uri="{FF2B5EF4-FFF2-40B4-BE49-F238E27FC236}">
                <a16:creationId xmlns:a16="http://schemas.microsoft.com/office/drawing/2014/main" id="{62668233-3470-1223-D30A-4A209E66ABFA}"/>
              </a:ext>
            </a:extLst>
          </p:cNvPr>
          <p:cNvPicPr>
            <a:picLocks noChangeAspect="1"/>
          </p:cNvPicPr>
          <p:nvPr/>
        </p:nvPicPr>
        <p:blipFill>
          <a:blip r:embed="rId5"/>
          <a:stretch>
            <a:fillRect/>
          </a:stretch>
        </p:blipFill>
        <p:spPr>
          <a:xfrm>
            <a:off x="6743694" y="3016738"/>
            <a:ext cx="2144273" cy="914479"/>
          </a:xfrm>
          <a:prstGeom prst="rect">
            <a:avLst/>
          </a:prstGeom>
        </p:spPr>
      </p:pic>
      <p:pic>
        <p:nvPicPr>
          <p:cNvPr id="17" name="Picture 16">
            <a:extLst>
              <a:ext uri="{FF2B5EF4-FFF2-40B4-BE49-F238E27FC236}">
                <a16:creationId xmlns:a16="http://schemas.microsoft.com/office/drawing/2014/main" id="{2ED16A7A-16A5-5B84-7739-F1393ADA16D7}"/>
              </a:ext>
            </a:extLst>
          </p:cNvPr>
          <p:cNvPicPr>
            <a:picLocks noChangeAspect="1"/>
          </p:cNvPicPr>
          <p:nvPr/>
        </p:nvPicPr>
        <p:blipFill>
          <a:blip r:embed="rId6"/>
          <a:stretch>
            <a:fillRect/>
          </a:stretch>
        </p:blipFill>
        <p:spPr>
          <a:xfrm>
            <a:off x="4727447" y="4050871"/>
            <a:ext cx="1865538" cy="978407"/>
          </a:xfrm>
          <a:prstGeom prst="rect">
            <a:avLst/>
          </a:prstGeom>
        </p:spPr>
      </p:pic>
      <p:pic>
        <p:nvPicPr>
          <p:cNvPr id="18" name="Picture 17">
            <a:extLst>
              <a:ext uri="{FF2B5EF4-FFF2-40B4-BE49-F238E27FC236}">
                <a16:creationId xmlns:a16="http://schemas.microsoft.com/office/drawing/2014/main" id="{9C53EAD1-3E1C-7FB2-CBF8-E1E1F88093DC}"/>
              </a:ext>
            </a:extLst>
          </p:cNvPr>
          <p:cNvPicPr>
            <a:picLocks noChangeAspect="1"/>
          </p:cNvPicPr>
          <p:nvPr/>
        </p:nvPicPr>
        <p:blipFill>
          <a:blip r:embed="rId7"/>
          <a:stretch>
            <a:fillRect/>
          </a:stretch>
        </p:blipFill>
        <p:spPr>
          <a:xfrm>
            <a:off x="6801729" y="3997800"/>
            <a:ext cx="2086238" cy="1049688"/>
          </a:xfrm>
          <a:prstGeom prst="rect">
            <a:avLst/>
          </a:prstGeom>
        </p:spPr>
      </p:pic>
      <p:graphicFrame>
        <p:nvGraphicFramePr>
          <p:cNvPr id="19" name="Table 18">
            <a:extLst>
              <a:ext uri="{FF2B5EF4-FFF2-40B4-BE49-F238E27FC236}">
                <a16:creationId xmlns:a16="http://schemas.microsoft.com/office/drawing/2014/main" id="{EA713E62-F814-C2F3-F689-B0CEDA8C5806}"/>
              </a:ext>
            </a:extLst>
          </p:cNvPr>
          <p:cNvGraphicFramePr>
            <a:graphicFrameLocks noGrp="1"/>
          </p:cNvGraphicFramePr>
          <p:nvPr>
            <p:extLst>
              <p:ext uri="{D42A27DB-BD31-4B8C-83A1-F6EECF244321}">
                <p14:modId xmlns:p14="http://schemas.microsoft.com/office/powerpoint/2010/main" val="2523261452"/>
              </p:ext>
            </p:extLst>
          </p:nvPr>
        </p:nvGraphicFramePr>
        <p:xfrm>
          <a:off x="50643" y="3487864"/>
          <a:ext cx="4160520" cy="1559622"/>
        </p:xfrm>
        <a:graphic>
          <a:graphicData uri="http://schemas.openxmlformats.org/drawingml/2006/table">
            <a:tbl>
              <a:tblPr/>
              <a:tblGrid>
                <a:gridCol w="2093448">
                  <a:extLst>
                    <a:ext uri="{9D8B030D-6E8A-4147-A177-3AD203B41FA5}">
                      <a16:colId xmlns:a16="http://schemas.microsoft.com/office/drawing/2014/main" val="3973219981"/>
                    </a:ext>
                  </a:extLst>
                </a:gridCol>
                <a:gridCol w="2067072">
                  <a:extLst>
                    <a:ext uri="{9D8B030D-6E8A-4147-A177-3AD203B41FA5}">
                      <a16:colId xmlns:a16="http://schemas.microsoft.com/office/drawing/2014/main" val="501379160"/>
                    </a:ext>
                  </a:extLst>
                </a:gridCol>
              </a:tblGrid>
              <a:tr h="259937">
                <a:tc>
                  <a:txBody>
                    <a:bodyPr/>
                    <a:lstStyle/>
                    <a:p>
                      <a:pPr marL="0" indent="0">
                        <a:buNone/>
                      </a:pPr>
                      <a:r>
                        <a:rPr lang="en-US" sz="1000" b="1" dirty="0">
                          <a:solidFill>
                            <a:srgbClr val="FFFFFF"/>
                          </a:solidFill>
                        </a:rPr>
                        <a:t>SQL Query</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tc>
                  <a:txBody>
                    <a:bodyPr/>
                    <a:lstStyle/>
                    <a:p>
                      <a:pPr marL="0" indent="0">
                        <a:buNone/>
                      </a:pPr>
                      <a:r>
                        <a:rPr lang="en-US" sz="1000" b="1" dirty="0">
                          <a:solidFill>
                            <a:srgbClr val="FFFFFF"/>
                          </a:solidFill>
                        </a:rPr>
                        <a:t>Power BI Match</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2A"/>
                    </a:solidFill>
                  </a:tcPr>
                </a:tc>
                <a:extLst>
                  <a:ext uri="{0D108BD9-81ED-4DB2-BD59-A6C34878D82A}">
                    <a16:rowId xmlns:a16="http://schemas.microsoft.com/office/drawing/2014/main" val="1942828374"/>
                  </a:ext>
                </a:extLst>
              </a:tr>
              <a:tr h="259937">
                <a:tc>
                  <a:txBody>
                    <a:bodyPr/>
                    <a:lstStyle/>
                    <a:p>
                      <a:pPr marL="0" indent="0">
                        <a:buNone/>
                      </a:pPr>
                      <a:r>
                        <a:rPr lang="en-US" sz="1000" dirty="0">
                          <a:solidFill>
                            <a:srgbClr val="000000"/>
                          </a:solidFill>
                        </a:rPr>
                        <a:t>COUNT(*)</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rPr>
                        <a:t>Total Rows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699088854"/>
                  </a:ext>
                </a:extLst>
              </a:tr>
              <a:tr h="259937">
                <a:tc>
                  <a:txBody>
                    <a:bodyPr/>
                    <a:lstStyle/>
                    <a:p>
                      <a:pPr marL="0" indent="0">
                        <a:buNone/>
                      </a:pPr>
                      <a:r>
                        <a:rPr lang="en-US" sz="1000" dirty="0">
                          <a:solidFill>
                            <a:srgbClr val="000000"/>
                          </a:solidFill>
                        </a:rPr>
                        <a:t>COUNT(DISTINCT Increment_Id)</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rPr>
                        <a:t>Total Orders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3497590116"/>
                  </a:ext>
                </a:extLst>
              </a:tr>
              <a:tr h="259937">
                <a:tc>
                  <a:txBody>
                    <a:bodyPr/>
                    <a:lstStyle/>
                    <a:p>
                      <a:pPr marL="0" indent="0">
                        <a:buNone/>
                      </a:pPr>
                      <a:r>
                        <a:rPr lang="en-US" sz="1000" dirty="0">
                          <a:solidFill>
                            <a:srgbClr val="000000"/>
                          </a:solidFill>
                        </a:rPr>
                        <a:t>SUM(Mv)</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rPr>
                        <a:t>Total Revenue</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325111906"/>
                  </a:ext>
                </a:extLst>
              </a:tr>
              <a:tr h="259937">
                <a:tc>
                  <a:txBody>
                    <a:bodyPr/>
                    <a:lstStyle/>
                    <a:p>
                      <a:pPr marL="0" indent="0">
                        <a:buNone/>
                      </a:pPr>
                      <a:r>
                        <a:rPr lang="en-US" sz="1000" dirty="0">
                          <a:solidFill>
                            <a:srgbClr val="000000"/>
                          </a:solidFill>
                        </a:rPr>
                        <a:t>WHERE Status = 'Canceled'</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rPr>
                        <a:t>Total Cancelled</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3206422550"/>
                  </a:ext>
                </a:extLst>
              </a:tr>
              <a:tr h="259937">
                <a:tc>
                  <a:txBody>
                    <a:bodyPr/>
                    <a:lstStyle/>
                    <a:p>
                      <a:pPr marL="0" indent="0">
                        <a:buNone/>
                      </a:pPr>
                      <a:r>
                        <a:rPr lang="en-US" sz="1000" dirty="0">
                          <a:solidFill>
                            <a:srgbClr val="000000"/>
                          </a:solidFill>
                        </a:rPr>
                        <a:t>WHERE Status IN Refund types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000000"/>
                          </a:solidFill>
                        </a:rPr>
                        <a:t>Total Refunded</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94440159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621792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06  —  Dashboard Pages</a:t>
            </a:r>
            <a:endParaRPr lang="en-US" sz="2400" dirty="0"/>
          </a:p>
        </p:txBody>
      </p:sp>
      <p:sp>
        <p:nvSpPr>
          <p:cNvPr id="4" name="Text 2"/>
          <p:cNvSpPr/>
          <p:nvPr/>
        </p:nvSpPr>
        <p:spPr>
          <a:xfrm>
            <a:off x="6400800" y="219456"/>
            <a:ext cx="2468880" cy="256032"/>
          </a:xfrm>
          <a:prstGeom prst="rect">
            <a:avLst/>
          </a:prstGeom>
          <a:noFill/>
          <a:ln/>
        </p:spPr>
        <p:txBody>
          <a:bodyPr wrap="square" lIns="0" tIns="0" rIns="0" bIns="0" rtlCol="0" anchor="ctr"/>
          <a:lstStyle/>
          <a:p>
            <a:pPr marL="0" indent="0" algn="r">
              <a:buNone/>
            </a:pPr>
            <a:r>
              <a:rPr lang="en-US" sz="1100" dirty="0">
                <a:solidFill>
                  <a:srgbClr val="0D9488"/>
                </a:solidFill>
                <a:latin typeface="Calibri" pitchFamily="34" charset="0"/>
                <a:ea typeface="Calibri" pitchFamily="34" charset="-122"/>
                <a:cs typeface="Calibri" pitchFamily="34" charset="-120"/>
              </a:rPr>
              <a:t>5 pages + hidden EDA page</a:t>
            </a:r>
            <a:endParaRPr lang="en-US" sz="1100" dirty="0"/>
          </a:p>
        </p:txBody>
      </p:sp>
      <p:sp>
        <p:nvSpPr>
          <p:cNvPr id="5" name="Shape 3"/>
          <p:cNvSpPr/>
          <p:nvPr/>
        </p:nvSpPr>
        <p:spPr>
          <a:xfrm>
            <a:off x="256032" y="804672"/>
            <a:ext cx="2852928" cy="210312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6" name="Shape 4"/>
          <p:cNvSpPr/>
          <p:nvPr/>
        </p:nvSpPr>
        <p:spPr>
          <a:xfrm>
            <a:off x="256032" y="804672"/>
            <a:ext cx="2816352" cy="347472"/>
          </a:xfrm>
          <a:prstGeom prst="rect">
            <a:avLst/>
          </a:prstGeom>
          <a:solidFill>
            <a:srgbClr val="0D1B2A"/>
          </a:solidFill>
          <a:ln w="12700">
            <a:solidFill>
              <a:srgbClr val="0D1B2A"/>
            </a:solidFill>
            <a:prstDash val="solid"/>
          </a:ln>
        </p:spPr>
        <p:txBody>
          <a:bodyPr/>
          <a:lstStyle/>
          <a:p>
            <a:endParaRPr lang="en-US"/>
          </a:p>
        </p:txBody>
      </p:sp>
      <p:sp>
        <p:nvSpPr>
          <p:cNvPr id="7" name="Text 5"/>
          <p:cNvSpPr/>
          <p:nvPr/>
        </p:nvSpPr>
        <p:spPr>
          <a:xfrm>
            <a:off x="310896" y="841248"/>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Business Overview</a:t>
            </a:r>
            <a:endParaRPr lang="en-US" sz="1200" dirty="0"/>
          </a:p>
        </p:txBody>
      </p:sp>
      <p:sp>
        <p:nvSpPr>
          <p:cNvPr id="8" name="Text 6"/>
          <p:cNvSpPr/>
          <p:nvPr/>
        </p:nvSpPr>
        <p:spPr>
          <a:xfrm>
            <a:off x="365760" y="1207008"/>
            <a:ext cx="2615184" cy="1682496"/>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Navigation buttons linking to all 4 detail pages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5 KPI cards — Revenue, Orders, Cancel Rate, Completion, YoY</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Revenue trend, Top Categories, Orders Funnel, BI Status donut</a:t>
            </a:r>
            <a:endParaRPr lang="en-US" sz="1300" dirty="0"/>
          </a:p>
          <a:p>
            <a:pPr marL="0" indent="0">
              <a:spcAft>
                <a:spcPts val="500"/>
              </a:spcAft>
              <a:buNone/>
            </a:pPr>
            <a:r>
              <a:rPr lang="en-US" sz="1000" dirty="0">
                <a:solidFill>
                  <a:srgbClr val="1E293B"/>
                </a:solidFill>
                <a:latin typeface="Calibri" pitchFamily="34" charset="0"/>
                <a:ea typeface="Calibri" pitchFamily="34" charset="-122"/>
                <a:cs typeface="Calibri" pitchFamily="34" charset="-120"/>
              </a:rPr>
              <a:t>• FY and BI Flag slicers controlling all visuals at once</a:t>
            </a:r>
            <a:endParaRPr lang="en-US" sz="1000" dirty="0"/>
          </a:p>
        </p:txBody>
      </p:sp>
      <p:sp>
        <p:nvSpPr>
          <p:cNvPr id="9" name="Shape 7"/>
          <p:cNvSpPr/>
          <p:nvPr/>
        </p:nvSpPr>
        <p:spPr>
          <a:xfrm>
            <a:off x="3200400" y="804672"/>
            <a:ext cx="2852928" cy="210312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0" name="Shape 8"/>
          <p:cNvSpPr/>
          <p:nvPr/>
        </p:nvSpPr>
        <p:spPr>
          <a:xfrm>
            <a:off x="3200400" y="804672"/>
            <a:ext cx="2816352" cy="347472"/>
          </a:xfrm>
          <a:prstGeom prst="rect">
            <a:avLst/>
          </a:prstGeom>
          <a:solidFill>
            <a:srgbClr val="0D9488"/>
          </a:solidFill>
          <a:ln w="12700">
            <a:solidFill>
              <a:srgbClr val="0D9488"/>
            </a:solidFill>
            <a:prstDash val="solid"/>
          </a:ln>
        </p:spPr>
        <p:txBody>
          <a:bodyPr/>
          <a:lstStyle/>
          <a:p>
            <a:endParaRPr lang="en-US"/>
          </a:p>
        </p:txBody>
      </p:sp>
      <p:sp>
        <p:nvSpPr>
          <p:cNvPr id="11" name="Text 9"/>
          <p:cNvSpPr/>
          <p:nvPr/>
        </p:nvSpPr>
        <p:spPr>
          <a:xfrm>
            <a:off x="3255264" y="841248"/>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Sales &amp; Revenue</a:t>
            </a:r>
            <a:endParaRPr lang="en-US" sz="1200" dirty="0"/>
          </a:p>
        </p:txBody>
      </p:sp>
      <p:sp>
        <p:nvSpPr>
          <p:cNvPr id="12" name="Text 10"/>
          <p:cNvSpPr/>
          <p:nvPr/>
        </p:nvSpPr>
        <p:spPr>
          <a:xfrm>
            <a:off x="3310128" y="1207008"/>
            <a:ext cx="2615184" cy="1536192"/>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Revenue vs Target gauge, Revenue trend bar chart</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Top categories, BI Status donut, Sales channel bar chart</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Avg Discount Rate on KPI — discount impact visible</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Status vs BI Status stacked bar — full width bottom</a:t>
            </a:r>
            <a:endParaRPr lang="en-US" sz="1300" dirty="0"/>
          </a:p>
        </p:txBody>
      </p:sp>
      <p:sp>
        <p:nvSpPr>
          <p:cNvPr id="13" name="Shape 11"/>
          <p:cNvSpPr/>
          <p:nvPr/>
        </p:nvSpPr>
        <p:spPr>
          <a:xfrm>
            <a:off x="6144768" y="804672"/>
            <a:ext cx="2816352" cy="201168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4" name="Shape 12"/>
          <p:cNvSpPr/>
          <p:nvPr/>
        </p:nvSpPr>
        <p:spPr>
          <a:xfrm>
            <a:off x="6144768" y="804672"/>
            <a:ext cx="2816352" cy="347472"/>
          </a:xfrm>
          <a:prstGeom prst="rect">
            <a:avLst/>
          </a:prstGeom>
          <a:solidFill>
            <a:srgbClr val="F59E0B"/>
          </a:solidFill>
          <a:ln w="12700">
            <a:solidFill>
              <a:srgbClr val="F59E0B"/>
            </a:solidFill>
            <a:prstDash val="solid"/>
          </a:ln>
        </p:spPr>
        <p:txBody>
          <a:bodyPr/>
          <a:lstStyle/>
          <a:p>
            <a:endParaRPr lang="en-US"/>
          </a:p>
        </p:txBody>
      </p:sp>
      <p:sp>
        <p:nvSpPr>
          <p:cNvPr id="15" name="Text 13"/>
          <p:cNvSpPr/>
          <p:nvPr/>
        </p:nvSpPr>
        <p:spPr>
          <a:xfrm>
            <a:off x="6199632" y="841248"/>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Products &amp; Vendors</a:t>
            </a:r>
            <a:endParaRPr lang="en-US" sz="1200" dirty="0"/>
          </a:p>
        </p:txBody>
      </p:sp>
      <p:sp>
        <p:nvSpPr>
          <p:cNvPr id="16" name="Text 14"/>
          <p:cNvSpPr/>
          <p:nvPr/>
        </p:nvSpPr>
        <p:spPr>
          <a:xfrm>
            <a:off x="6254496" y="1207008"/>
            <a:ext cx="2615184" cy="1536192"/>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Categories first (big picture) then Top 10 Products (detail)</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Pareto chart — which products drive 80% of revenue</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Product detail table with YoY growth column added</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Top 20 Products Revenue KPI card</a:t>
            </a:r>
            <a:endParaRPr lang="en-US" sz="1300" dirty="0"/>
          </a:p>
        </p:txBody>
      </p:sp>
      <p:sp>
        <p:nvSpPr>
          <p:cNvPr id="17" name="Shape 15"/>
          <p:cNvSpPr/>
          <p:nvPr/>
        </p:nvSpPr>
        <p:spPr>
          <a:xfrm>
            <a:off x="256032" y="2926080"/>
            <a:ext cx="2816352" cy="201168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8" name="Shape 16"/>
          <p:cNvSpPr/>
          <p:nvPr/>
        </p:nvSpPr>
        <p:spPr>
          <a:xfrm>
            <a:off x="256032" y="2926080"/>
            <a:ext cx="2816352" cy="347472"/>
          </a:xfrm>
          <a:prstGeom prst="rect">
            <a:avLst/>
          </a:prstGeom>
          <a:solidFill>
            <a:srgbClr val="DC2626"/>
          </a:solidFill>
          <a:ln w="12700">
            <a:solidFill>
              <a:srgbClr val="DC2626"/>
            </a:solidFill>
            <a:prstDash val="solid"/>
          </a:ln>
        </p:spPr>
        <p:txBody>
          <a:bodyPr/>
          <a:lstStyle/>
          <a:p>
            <a:endParaRPr lang="en-US"/>
          </a:p>
        </p:txBody>
      </p:sp>
      <p:sp>
        <p:nvSpPr>
          <p:cNvPr id="19" name="Text 17"/>
          <p:cNvSpPr/>
          <p:nvPr/>
        </p:nvSpPr>
        <p:spPr>
          <a:xfrm>
            <a:off x="310896" y="2962656"/>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Operations</a:t>
            </a:r>
            <a:endParaRPr lang="en-US" sz="1200" dirty="0"/>
          </a:p>
        </p:txBody>
      </p:sp>
      <p:sp>
        <p:nvSpPr>
          <p:cNvPr id="20" name="Text 18"/>
          <p:cNvSpPr/>
          <p:nvPr/>
        </p:nvSpPr>
        <p:spPr>
          <a:xfrm>
            <a:off x="365760" y="3328416"/>
            <a:ext cx="2615184" cy="1536192"/>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Cancellation Rate gauge — visual alarm dial</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Orders by Status funnel — shows the drop-off story</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MoM Revenue waterfall — green up, red down months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Top 3 payment method % cards (COD, EasyPay, PayAxis)</a:t>
            </a:r>
            <a:endParaRPr lang="en-US" sz="1300" dirty="0"/>
          </a:p>
        </p:txBody>
      </p:sp>
      <p:sp>
        <p:nvSpPr>
          <p:cNvPr id="21" name="Shape 19"/>
          <p:cNvSpPr/>
          <p:nvPr/>
        </p:nvSpPr>
        <p:spPr>
          <a:xfrm>
            <a:off x="3200400" y="2926080"/>
            <a:ext cx="2816352" cy="201168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22" name="Shape 20"/>
          <p:cNvSpPr/>
          <p:nvPr/>
        </p:nvSpPr>
        <p:spPr>
          <a:xfrm>
            <a:off x="3200400" y="2926080"/>
            <a:ext cx="2816352" cy="347472"/>
          </a:xfrm>
          <a:prstGeom prst="rect">
            <a:avLst/>
          </a:prstGeom>
          <a:solidFill>
            <a:srgbClr val="7C3AED"/>
          </a:solidFill>
          <a:ln w="12700">
            <a:solidFill>
              <a:srgbClr val="7C3AED"/>
            </a:solidFill>
            <a:prstDash val="solid"/>
          </a:ln>
        </p:spPr>
        <p:txBody>
          <a:bodyPr/>
          <a:lstStyle/>
          <a:p>
            <a:endParaRPr lang="en-US"/>
          </a:p>
        </p:txBody>
      </p:sp>
      <p:sp>
        <p:nvSpPr>
          <p:cNvPr id="23" name="Text 21"/>
          <p:cNvSpPr/>
          <p:nvPr/>
        </p:nvSpPr>
        <p:spPr>
          <a:xfrm>
            <a:off x="3255264" y="2962656"/>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Customer Analysis</a:t>
            </a:r>
            <a:endParaRPr lang="en-US" sz="1200" dirty="0"/>
          </a:p>
        </p:txBody>
      </p:sp>
      <p:sp>
        <p:nvSpPr>
          <p:cNvPr id="24" name="Text 22"/>
          <p:cNvSpPr/>
          <p:nvPr/>
        </p:nvSpPr>
        <p:spPr>
          <a:xfrm>
            <a:off x="3310128" y="3328416"/>
            <a:ext cx="2615184" cy="1536192"/>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New vs Repeat Customers donut, Revenue by Type bar chart</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Customer acquisition line chart, Churn Rate by Year bar</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Churn Rate card, Discounted vs Non-Discounted customer cards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Customer behaviour by Status bar — full width bottom</a:t>
            </a:r>
            <a:endParaRPr lang="en-US" sz="1300" dirty="0"/>
          </a:p>
        </p:txBody>
      </p:sp>
      <p:sp>
        <p:nvSpPr>
          <p:cNvPr id="25" name="Shape 23"/>
          <p:cNvSpPr/>
          <p:nvPr/>
        </p:nvSpPr>
        <p:spPr>
          <a:xfrm>
            <a:off x="6144768" y="2926080"/>
            <a:ext cx="2816352" cy="201168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26" name="Shape 24"/>
          <p:cNvSpPr/>
          <p:nvPr/>
        </p:nvSpPr>
        <p:spPr>
          <a:xfrm>
            <a:off x="6144768" y="2926080"/>
            <a:ext cx="2816352" cy="347472"/>
          </a:xfrm>
          <a:prstGeom prst="rect">
            <a:avLst/>
          </a:prstGeom>
          <a:solidFill>
            <a:srgbClr val="64748B"/>
          </a:solidFill>
          <a:ln w="12700">
            <a:solidFill>
              <a:srgbClr val="64748B"/>
            </a:solidFill>
            <a:prstDash val="solid"/>
          </a:ln>
        </p:spPr>
        <p:txBody>
          <a:bodyPr/>
          <a:lstStyle/>
          <a:p>
            <a:endParaRPr lang="en-US"/>
          </a:p>
        </p:txBody>
      </p:sp>
      <p:sp>
        <p:nvSpPr>
          <p:cNvPr id="27" name="Text 25"/>
          <p:cNvSpPr/>
          <p:nvPr/>
        </p:nvSpPr>
        <p:spPr>
          <a:xfrm>
            <a:off x="6199632" y="2962656"/>
            <a:ext cx="2706624"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 Exploration (Hidden)</a:t>
            </a:r>
            <a:endParaRPr lang="en-US" sz="1200" dirty="0"/>
          </a:p>
        </p:txBody>
      </p:sp>
      <p:sp>
        <p:nvSpPr>
          <p:cNvPr id="28" name="Text 26"/>
          <p:cNvSpPr/>
          <p:nvPr/>
        </p:nvSpPr>
        <p:spPr>
          <a:xfrm>
            <a:off x="6254496" y="3328416"/>
            <a:ext cx="2615184" cy="1536192"/>
          </a:xfrm>
          <a:prstGeom prst="rect">
            <a:avLst/>
          </a:prstGeom>
          <a:noFill/>
          <a:ln/>
        </p:spPr>
        <p:txBody>
          <a:bodyPr wrap="square" lIns="0" tIns="0" rIns="0" bIns="0" rtlCol="0" anchor="t"/>
          <a:lstStyle/>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Hidden page — reviewer can unhide to inspect</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Statistical cards — Mean, Median, Outliers, Skewness</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Distribution charts — Revenue by Month, Status, Payment</a:t>
            </a:r>
            <a:endParaRPr lang="en-US" sz="1300" dirty="0"/>
          </a:p>
          <a:p>
            <a:pPr marL="0" indent="0">
              <a:spcAft>
                <a:spcPts val="500"/>
              </a:spcAft>
              <a:buNone/>
            </a:pPr>
            <a:r>
              <a:rPr lang="en-US" sz="1300" dirty="0">
                <a:solidFill>
                  <a:srgbClr val="1E293B"/>
                </a:solidFill>
                <a:latin typeface="Calibri" pitchFamily="34" charset="0"/>
                <a:ea typeface="Calibri" pitchFamily="34" charset="-122"/>
                <a:cs typeface="Calibri" pitchFamily="34" charset="-120"/>
              </a:rPr>
              <a:t>• Correlation findings shown as insight text boxes</a:t>
            </a:r>
            <a:endParaRPr lang="en-US" sz="1300" dirty="0"/>
          </a:p>
        </p:txBody>
      </p:sp>
      <p:sp>
        <p:nvSpPr>
          <p:cNvPr id="29" name="Text 27"/>
          <p:cNvSpPr/>
          <p:nvPr/>
        </p:nvSpPr>
        <p:spPr>
          <a:xfrm>
            <a:off x="256032" y="4992624"/>
            <a:ext cx="8631936" cy="219456"/>
          </a:xfrm>
          <a:prstGeom prst="rect">
            <a:avLst/>
          </a:prstGeom>
          <a:noFill/>
          <a:ln/>
        </p:spPr>
        <p:txBody>
          <a:bodyPr wrap="square" lIns="0" tIns="0" rIns="0" bIns="0" rtlCol="0" anchor="ctr"/>
          <a:lstStyle/>
          <a:p>
            <a:pPr marL="0" indent="0" algn="ctr">
              <a:buNone/>
            </a:pP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621792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06  —  Dashboard — Explanatory Text Boxes</a:t>
            </a:r>
            <a:endParaRPr lang="en-US" sz="2400" dirty="0"/>
          </a:p>
        </p:txBody>
      </p:sp>
      <p:sp>
        <p:nvSpPr>
          <p:cNvPr id="4" name="Text 2"/>
          <p:cNvSpPr/>
          <p:nvPr/>
        </p:nvSpPr>
        <p:spPr>
          <a:xfrm>
            <a:off x="6400800" y="219456"/>
            <a:ext cx="2468880" cy="256032"/>
          </a:xfrm>
          <a:prstGeom prst="rect">
            <a:avLst/>
          </a:prstGeom>
          <a:noFill/>
          <a:ln/>
        </p:spPr>
        <p:txBody>
          <a:bodyPr wrap="square" lIns="0" tIns="0" rIns="0" bIns="0" rtlCol="0" anchor="ctr"/>
          <a:lstStyle/>
          <a:p>
            <a:pPr marL="0" indent="0" algn="r">
              <a:buNone/>
            </a:pPr>
            <a:r>
              <a:rPr lang="en-US" sz="1100" dirty="0">
                <a:solidFill>
                  <a:srgbClr val="0D9488"/>
                </a:solidFill>
                <a:latin typeface="Calibri" pitchFamily="34" charset="0"/>
                <a:ea typeface="Calibri" pitchFamily="34" charset="-122"/>
                <a:cs typeface="Calibri" pitchFamily="34" charset="-120"/>
              </a:rPr>
              <a:t>Added to visuals for non-technical viewers</a:t>
            </a:r>
            <a:endParaRPr lang="en-US" sz="1100" dirty="0"/>
          </a:p>
        </p:txBody>
      </p:sp>
      <p:sp>
        <p:nvSpPr>
          <p:cNvPr id="5" name="Text 3"/>
          <p:cNvSpPr/>
          <p:nvPr/>
        </p:nvSpPr>
        <p:spPr>
          <a:xfrm>
            <a:off x="274320" y="804672"/>
            <a:ext cx="8595360" cy="292608"/>
          </a:xfrm>
          <a:prstGeom prst="rect">
            <a:avLst/>
          </a:prstGeom>
          <a:noFill/>
          <a:ln/>
        </p:spPr>
        <p:txBody>
          <a:bodyPr wrap="square" lIns="0" tIns="0" rIns="0" bIns="0" rtlCol="0" anchor="ctr"/>
          <a:lstStyle/>
          <a:p>
            <a:pPr marL="0" indent="0">
              <a:buNone/>
            </a:pPr>
            <a:endParaRPr lang="en-US" sz="1300" dirty="0"/>
          </a:p>
        </p:txBody>
      </p:sp>
      <p:sp>
        <p:nvSpPr>
          <p:cNvPr id="6" name="Shape 4"/>
          <p:cNvSpPr/>
          <p:nvPr/>
        </p:nvSpPr>
        <p:spPr>
          <a:xfrm>
            <a:off x="256032" y="1170432"/>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7" name="Shape 5"/>
          <p:cNvSpPr/>
          <p:nvPr/>
        </p:nvSpPr>
        <p:spPr>
          <a:xfrm>
            <a:off x="256032" y="1170432"/>
            <a:ext cx="109728" cy="822960"/>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438912" y="1243584"/>
            <a:ext cx="3968496"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Sales &amp; Revenue  —  BI Status Donut</a:t>
            </a:r>
            <a:endParaRPr lang="en-US" sz="1200" dirty="0"/>
          </a:p>
        </p:txBody>
      </p:sp>
      <p:sp>
        <p:nvSpPr>
          <p:cNvPr id="9" name="Text 7"/>
          <p:cNvSpPr/>
          <p:nvPr/>
        </p:nvSpPr>
        <p:spPr>
          <a:xfrm>
            <a:off x="438912" y="1536192"/>
            <a:ext cx="3968496" cy="402336"/>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Valid = confirmed legitimate transaction. Net = revenue after deductions. Gross = full face value before deductions</a:t>
            </a:r>
            <a:r>
              <a:rPr lang="en-US" sz="1200" i="1" dirty="0">
                <a:latin typeface="Calibri" pitchFamily="34" charset="0"/>
                <a:ea typeface="Calibri" pitchFamily="34" charset="-122"/>
                <a:cs typeface="Calibri" pitchFamily="34" charset="-120"/>
              </a:rPr>
              <a:t>.</a:t>
            </a:r>
            <a:endParaRPr lang="en-US" sz="1200" dirty="0"/>
          </a:p>
        </p:txBody>
      </p:sp>
      <p:sp>
        <p:nvSpPr>
          <p:cNvPr id="10" name="Shape 8"/>
          <p:cNvSpPr/>
          <p:nvPr/>
        </p:nvSpPr>
        <p:spPr>
          <a:xfrm>
            <a:off x="4700016" y="1170432"/>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1" name="Shape 9"/>
          <p:cNvSpPr/>
          <p:nvPr/>
        </p:nvSpPr>
        <p:spPr>
          <a:xfrm>
            <a:off x="4700016" y="1170432"/>
            <a:ext cx="109728" cy="822960"/>
          </a:xfrm>
          <a:prstGeom prst="rect">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4882896" y="1243584"/>
            <a:ext cx="3968496"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Sales &amp; Revenue  —  Order Outcome Slicer</a:t>
            </a:r>
            <a:endParaRPr lang="en-US" sz="1200" dirty="0"/>
          </a:p>
        </p:txBody>
      </p:sp>
      <p:sp>
        <p:nvSpPr>
          <p:cNvPr id="13" name="Text 11"/>
          <p:cNvSpPr/>
          <p:nvPr/>
        </p:nvSpPr>
        <p:spPr>
          <a:xfrm>
            <a:off x="4882896" y="1536192"/>
            <a:ext cx="3968496" cy="402336"/>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Successful Order = Complete, Received, Paid, Closed. Unsuccessful = Cancelled, Refunded, Pending.</a:t>
            </a:r>
            <a:endParaRPr lang="en-US" sz="1200" dirty="0"/>
          </a:p>
        </p:txBody>
      </p:sp>
      <p:sp>
        <p:nvSpPr>
          <p:cNvPr id="14" name="Shape 12"/>
          <p:cNvSpPr/>
          <p:nvPr/>
        </p:nvSpPr>
        <p:spPr>
          <a:xfrm>
            <a:off x="256032" y="2121408"/>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5" name="Shape 13"/>
          <p:cNvSpPr/>
          <p:nvPr/>
        </p:nvSpPr>
        <p:spPr>
          <a:xfrm>
            <a:off x="256032" y="2121408"/>
            <a:ext cx="109728" cy="822960"/>
          </a:xfrm>
          <a:prstGeom prst="rect">
            <a:avLst/>
          </a:prstGeom>
          <a:solidFill>
            <a:srgbClr val="F59E0B"/>
          </a:solidFill>
          <a:ln w="12700">
            <a:solidFill>
              <a:srgbClr val="F59E0B"/>
            </a:solidFill>
            <a:prstDash val="solid"/>
          </a:ln>
        </p:spPr>
        <p:txBody>
          <a:bodyPr/>
          <a:lstStyle/>
          <a:p>
            <a:endParaRPr lang="en-US"/>
          </a:p>
        </p:txBody>
      </p:sp>
      <p:sp>
        <p:nvSpPr>
          <p:cNvPr id="16" name="Text 14"/>
          <p:cNvSpPr/>
          <p:nvPr/>
        </p:nvSpPr>
        <p:spPr>
          <a:xfrm>
            <a:off x="438912" y="2194560"/>
            <a:ext cx="3968496"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Products &amp; Vendors  —  Pareto Chart</a:t>
            </a:r>
            <a:endParaRPr lang="en-US" sz="1200" dirty="0"/>
          </a:p>
        </p:txBody>
      </p:sp>
      <p:sp>
        <p:nvSpPr>
          <p:cNvPr id="17" name="Text 15"/>
          <p:cNvSpPr/>
          <p:nvPr/>
        </p:nvSpPr>
        <p:spPr>
          <a:xfrm>
            <a:off x="438912" y="2487168"/>
            <a:ext cx="3968496" cy="402336"/>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The red line marks 80%. Products to the left of where the gold line crosses it drive 80% of all revenue.</a:t>
            </a:r>
            <a:endParaRPr lang="en-US" sz="1200" dirty="0"/>
          </a:p>
        </p:txBody>
      </p:sp>
      <p:sp>
        <p:nvSpPr>
          <p:cNvPr id="18" name="Shape 16"/>
          <p:cNvSpPr/>
          <p:nvPr/>
        </p:nvSpPr>
        <p:spPr>
          <a:xfrm>
            <a:off x="4700016" y="2121408"/>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9" name="Shape 17"/>
          <p:cNvSpPr/>
          <p:nvPr/>
        </p:nvSpPr>
        <p:spPr>
          <a:xfrm>
            <a:off x="4700016" y="2121408"/>
            <a:ext cx="109728" cy="822960"/>
          </a:xfrm>
          <a:prstGeom prst="rect">
            <a:avLst/>
          </a:prstGeom>
          <a:solidFill>
            <a:srgbClr val="F59E0B"/>
          </a:solidFill>
          <a:ln w="12700">
            <a:solidFill>
              <a:srgbClr val="F59E0B"/>
            </a:solidFill>
            <a:prstDash val="solid"/>
          </a:ln>
        </p:spPr>
        <p:txBody>
          <a:bodyPr/>
          <a:lstStyle/>
          <a:p>
            <a:endParaRPr lang="en-US"/>
          </a:p>
        </p:txBody>
      </p:sp>
      <p:sp>
        <p:nvSpPr>
          <p:cNvPr id="20" name="Text 18"/>
          <p:cNvSpPr/>
          <p:nvPr/>
        </p:nvSpPr>
        <p:spPr>
          <a:xfrm>
            <a:off x="4882896" y="2194560"/>
            <a:ext cx="3968496"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Products &amp; Vendors  —  Vendor Column</a:t>
            </a:r>
            <a:endParaRPr lang="en-US" sz="1200" dirty="0"/>
          </a:p>
        </p:txBody>
      </p:sp>
      <p:sp>
        <p:nvSpPr>
          <p:cNvPr id="21" name="Text 19"/>
          <p:cNvSpPr/>
          <p:nvPr/>
        </p:nvSpPr>
        <p:spPr>
          <a:xfrm>
            <a:off x="4882896" y="2487168"/>
            <a:ext cx="3968496" cy="402336"/>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Vendor names are extracted from the SKU prefix. If SKU naming changes in future, vendor classification will need updating</a:t>
            </a:r>
            <a:r>
              <a:rPr lang="en-US" sz="1200" i="1" dirty="0">
                <a:solidFill>
                  <a:srgbClr val="64748B"/>
                </a:solidFill>
                <a:latin typeface="Calibri" pitchFamily="34" charset="0"/>
                <a:ea typeface="Calibri" pitchFamily="34" charset="-122"/>
                <a:cs typeface="Calibri" pitchFamily="34" charset="-120"/>
              </a:rPr>
              <a:t>.</a:t>
            </a:r>
            <a:endParaRPr lang="en-US" sz="1200" dirty="0"/>
          </a:p>
        </p:txBody>
      </p:sp>
      <p:sp>
        <p:nvSpPr>
          <p:cNvPr id="22" name="Shape 20"/>
          <p:cNvSpPr/>
          <p:nvPr/>
        </p:nvSpPr>
        <p:spPr>
          <a:xfrm>
            <a:off x="256032" y="3072384"/>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23" name="Shape 21"/>
          <p:cNvSpPr/>
          <p:nvPr/>
        </p:nvSpPr>
        <p:spPr>
          <a:xfrm>
            <a:off x="256032" y="3072384"/>
            <a:ext cx="109728" cy="822960"/>
          </a:xfrm>
          <a:prstGeom prst="rect">
            <a:avLst/>
          </a:prstGeom>
          <a:solidFill>
            <a:srgbClr val="DC2626"/>
          </a:solidFill>
          <a:ln w="12700">
            <a:solidFill>
              <a:srgbClr val="DC2626"/>
            </a:solidFill>
            <a:prstDash val="solid"/>
          </a:ln>
        </p:spPr>
        <p:txBody>
          <a:bodyPr/>
          <a:lstStyle/>
          <a:p>
            <a:endParaRPr lang="en-US"/>
          </a:p>
        </p:txBody>
      </p:sp>
      <p:sp>
        <p:nvSpPr>
          <p:cNvPr id="24" name="Text 22"/>
          <p:cNvSpPr/>
          <p:nvPr/>
        </p:nvSpPr>
        <p:spPr>
          <a:xfrm>
            <a:off x="438912" y="3145536"/>
            <a:ext cx="3968496"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Operations  —  Waterfall Chart</a:t>
            </a:r>
            <a:endParaRPr lang="en-US" sz="1200" dirty="0"/>
          </a:p>
        </p:txBody>
      </p:sp>
      <p:sp>
        <p:nvSpPr>
          <p:cNvPr id="25" name="Text 23"/>
          <p:cNvSpPr/>
          <p:nvPr/>
        </p:nvSpPr>
        <p:spPr>
          <a:xfrm>
            <a:off x="438912" y="3361475"/>
            <a:ext cx="3968496" cy="402336"/>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Green bars = months where revenue went up. Red bars = months where revenue dropped. Height shows the amount of change.</a:t>
            </a:r>
            <a:endParaRPr lang="en-US" sz="1200" dirty="0"/>
          </a:p>
        </p:txBody>
      </p:sp>
      <p:sp>
        <p:nvSpPr>
          <p:cNvPr id="26" name="Shape 24"/>
          <p:cNvSpPr/>
          <p:nvPr/>
        </p:nvSpPr>
        <p:spPr>
          <a:xfrm>
            <a:off x="4700016" y="3072384"/>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27" name="Shape 25"/>
          <p:cNvSpPr/>
          <p:nvPr/>
        </p:nvSpPr>
        <p:spPr>
          <a:xfrm>
            <a:off x="4700016" y="3072384"/>
            <a:ext cx="109728" cy="822960"/>
          </a:xfrm>
          <a:prstGeom prst="rect">
            <a:avLst/>
          </a:prstGeom>
          <a:solidFill>
            <a:srgbClr val="7C3AED"/>
          </a:solidFill>
          <a:ln w="12700">
            <a:solidFill>
              <a:srgbClr val="7C3AED"/>
            </a:solidFill>
            <a:prstDash val="solid"/>
          </a:ln>
        </p:spPr>
        <p:txBody>
          <a:bodyPr/>
          <a:lstStyle/>
          <a:p>
            <a:endParaRPr lang="en-US"/>
          </a:p>
        </p:txBody>
      </p:sp>
      <p:sp>
        <p:nvSpPr>
          <p:cNvPr id="28" name="Text 26"/>
          <p:cNvSpPr/>
          <p:nvPr/>
        </p:nvSpPr>
        <p:spPr>
          <a:xfrm>
            <a:off x="4882896" y="3145536"/>
            <a:ext cx="3968496"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Customer Analysis  —  Churn Rate Card</a:t>
            </a:r>
            <a:endParaRPr lang="en-US" sz="1200" dirty="0"/>
          </a:p>
        </p:txBody>
      </p:sp>
      <p:sp>
        <p:nvSpPr>
          <p:cNvPr id="29" name="Text 27"/>
          <p:cNvSpPr/>
          <p:nvPr/>
        </p:nvSpPr>
        <p:spPr>
          <a:xfrm>
            <a:off x="4882896" y="3438144"/>
            <a:ext cx="3968496" cy="402336"/>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Churn rate shows % of 2017 customers who did not return in 2018. Higher number means more customers are being lost.</a:t>
            </a:r>
            <a:endParaRPr lang="en-US" sz="1200" dirty="0"/>
          </a:p>
        </p:txBody>
      </p:sp>
      <p:sp>
        <p:nvSpPr>
          <p:cNvPr id="30" name="Shape 28"/>
          <p:cNvSpPr/>
          <p:nvPr/>
        </p:nvSpPr>
        <p:spPr>
          <a:xfrm>
            <a:off x="256032" y="4023360"/>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31" name="Shape 29"/>
          <p:cNvSpPr/>
          <p:nvPr/>
        </p:nvSpPr>
        <p:spPr>
          <a:xfrm>
            <a:off x="256032" y="4023360"/>
            <a:ext cx="109728" cy="822960"/>
          </a:xfrm>
          <a:prstGeom prst="rect">
            <a:avLst/>
          </a:prstGeom>
          <a:solidFill>
            <a:srgbClr val="7C3AED"/>
          </a:solidFill>
          <a:ln w="12700">
            <a:solidFill>
              <a:srgbClr val="7C3AED"/>
            </a:solidFill>
            <a:prstDash val="solid"/>
          </a:ln>
        </p:spPr>
        <p:txBody>
          <a:bodyPr/>
          <a:lstStyle/>
          <a:p>
            <a:endParaRPr lang="en-US"/>
          </a:p>
        </p:txBody>
      </p:sp>
      <p:sp>
        <p:nvSpPr>
          <p:cNvPr id="32" name="Text 30"/>
          <p:cNvSpPr/>
          <p:nvPr/>
        </p:nvSpPr>
        <p:spPr>
          <a:xfrm>
            <a:off x="438912" y="4096512"/>
            <a:ext cx="3968496"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Customer Analysis  —  Discount Cards</a:t>
            </a:r>
            <a:endParaRPr lang="en-US" sz="1200" dirty="0"/>
          </a:p>
        </p:txBody>
      </p:sp>
      <p:sp>
        <p:nvSpPr>
          <p:cNvPr id="33" name="Text 31"/>
          <p:cNvSpPr/>
          <p:nvPr/>
        </p:nvSpPr>
        <p:spPr>
          <a:xfrm>
            <a:off x="438912" y="4279392"/>
            <a:ext cx="3968496" cy="402336"/>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If Discounted Customers and Non-Discounted Customers are similar in number, discounts are not attracting more unique buyers.</a:t>
            </a:r>
            <a:endParaRPr lang="en-US" sz="1200" dirty="0"/>
          </a:p>
        </p:txBody>
      </p:sp>
      <p:sp>
        <p:nvSpPr>
          <p:cNvPr id="34" name="Shape 32"/>
          <p:cNvSpPr/>
          <p:nvPr/>
        </p:nvSpPr>
        <p:spPr>
          <a:xfrm>
            <a:off x="4700016" y="4023360"/>
            <a:ext cx="4224528" cy="82296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35" name="Shape 33"/>
          <p:cNvSpPr/>
          <p:nvPr/>
        </p:nvSpPr>
        <p:spPr>
          <a:xfrm>
            <a:off x="4700016" y="4023360"/>
            <a:ext cx="109728" cy="822960"/>
          </a:xfrm>
          <a:prstGeom prst="rect">
            <a:avLst/>
          </a:prstGeom>
          <a:solidFill>
            <a:srgbClr val="64748B"/>
          </a:solidFill>
          <a:ln w="12700">
            <a:solidFill>
              <a:srgbClr val="64748B"/>
            </a:solidFill>
            <a:prstDash val="solid"/>
          </a:ln>
        </p:spPr>
        <p:txBody>
          <a:bodyPr/>
          <a:lstStyle/>
          <a:p>
            <a:endParaRPr lang="en-US"/>
          </a:p>
        </p:txBody>
      </p:sp>
      <p:sp>
        <p:nvSpPr>
          <p:cNvPr id="36" name="Text 34"/>
          <p:cNvSpPr/>
          <p:nvPr/>
        </p:nvSpPr>
        <p:spPr>
          <a:xfrm>
            <a:off x="4882896" y="4096512"/>
            <a:ext cx="3968496" cy="256032"/>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EDA Page (Hidden)  —  Skewness Indicator</a:t>
            </a:r>
            <a:endParaRPr lang="en-US" sz="1200" dirty="0"/>
          </a:p>
        </p:txBody>
      </p:sp>
      <p:sp>
        <p:nvSpPr>
          <p:cNvPr id="37" name="Text 35"/>
          <p:cNvSpPr/>
          <p:nvPr/>
        </p:nvSpPr>
        <p:spPr>
          <a:xfrm>
            <a:off x="4882896" y="4389120"/>
            <a:ext cx="3968496" cy="402336"/>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A positive number means a few large orders are pulling the average above what a typical order actually looks like.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80F18"/>
          </a:solidFill>
          <a:ln w="12700">
            <a:solidFill>
              <a:srgbClr val="080F18"/>
            </a:solidFill>
            <a:prstDash val="solid"/>
          </a:ln>
        </p:spPr>
        <p:txBody>
          <a:bodyPr/>
          <a:lstStyle/>
          <a:p>
            <a:endParaRPr lang="en-US"/>
          </a:p>
        </p:txBody>
      </p:sp>
      <p:sp>
        <p:nvSpPr>
          <p:cNvPr id="3" name="Text 1"/>
          <p:cNvSpPr/>
          <p:nvPr/>
        </p:nvSpPr>
        <p:spPr>
          <a:xfrm>
            <a:off x="365760" y="54864"/>
            <a:ext cx="841248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07  —  Key Insights</a:t>
            </a:r>
            <a:endParaRPr lang="en-US" sz="2400" dirty="0"/>
          </a:p>
        </p:txBody>
      </p:sp>
      <p:sp>
        <p:nvSpPr>
          <p:cNvPr id="4" name="Shape 2"/>
          <p:cNvSpPr/>
          <p:nvPr/>
        </p:nvSpPr>
        <p:spPr>
          <a:xfrm>
            <a:off x="137160" y="777240"/>
            <a:ext cx="1664208" cy="877824"/>
          </a:xfrm>
          <a:prstGeom prst="rect">
            <a:avLst/>
          </a:prstGeom>
          <a:solidFill>
            <a:srgbClr val="0A1525"/>
          </a:solidFill>
          <a:ln w="12700">
            <a:solidFill>
              <a:srgbClr val="0D9488"/>
            </a:solidFill>
            <a:prstDash val="solid"/>
          </a:ln>
        </p:spPr>
        <p:txBody>
          <a:bodyPr/>
          <a:lstStyle/>
          <a:p>
            <a:endParaRPr lang="en-US"/>
          </a:p>
        </p:txBody>
      </p:sp>
      <p:sp>
        <p:nvSpPr>
          <p:cNvPr id="5" name="Text 3"/>
          <p:cNvSpPr/>
          <p:nvPr/>
        </p:nvSpPr>
        <p:spPr>
          <a:xfrm>
            <a:off x="137160" y="868680"/>
            <a:ext cx="1664208" cy="474025"/>
          </a:xfrm>
          <a:prstGeom prst="rect">
            <a:avLst/>
          </a:prstGeom>
          <a:noFill/>
          <a:ln/>
        </p:spPr>
        <p:txBody>
          <a:bodyPr wrap="square" lIns="0" tIns="0" rIns="0" bIns="0" rtlCol="0" anchor="ctr"/>
          <a:lstStyle/>
          <a:p>
            <a:pPr marL="0" indent="0" algn="ctr">
              <a:buNone/>
            </a:pPr>
            <a:r>
              <a:rPr lang="en-US" sz="2800" b="1" dirty="0">
                <a:solidFill>
                  <a:srgbClr val="0D9488"/>
                </a:solidFill>
                <a:latin typeface="Calibri" pitchFamily="34" charset="0"/>
                <a:ea typeface="Calibri" pitchFamily="34" charset="-122"/>
                <a:cs typeface="Calibri" pitchFamily="34" charset="-120"/>
              </a:rPr>
              <a:t>KES 659M</a:t>
            </a:r>
            <a:endParaRPr lang="en-US" sz="2800" dirty="0"/>
          </a:p>
        </p:txBody>
      </p:sp>
      <p:sp>
        <p:nvSpPr>
          <p:cNvPr id="6" name="Text 4"/>
          <p:cNvSpPr/>
          <p:nvPr/>
        </p:nvSpPr>
        <p:spPr>
          <a:xfrm>
            <a:off x="137160" y="1321491"/>
            <a:ext cx="1664208" cy="280904"/>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Total Revenue</a:t>
            </a:r>
            <a:endParaRPr lang="en-US" sz="1100" dirty="0"/>
          </a:p>
        </p:txBody>
      </p:sp>
      <p:sp>
        <p:nvSpPr>
          <p:cNvPr id="7" name="Shape 5"/>
          <p:cNvSpPr/>
          <p:nvPr/>
        </p:nvSpPr>
        <p:spPr>
          <a:xfrm>
            <a:off x="1920240" y="777240"/>
            <a:ext cx="1664208" cy="877824"/>
          </a:xfrm>
          <a:prstGeom prst="rect">
            <a:avLst/>
          </a:prstGeom>
          <a:solidFill>
            <a:srgbClr val="0A1525"/>
          </a:solidFill>
          <a:ln w="12700">
            <a:solidFill>
              <a:srgbClr val="0D9488"/>
            </a:solidFill>
            <a:prstDash val="solid"/>
          </a:ln>
        </p:spPr>
        <p:txBody>
          <a:bodyPr/>
          <a:lstStyle/>
          <a:p>
            <a:endParaRPr lang="en-US"/>
          </a:p>
        </p:txBody>
      </p:sp>
      <p:sp>
        <p:nvSpPr>
          <p:cNvPr id="8" name="Text 6"/>
          <p:cNvSpPr/>
          <p:nvPr/>
        </p:nvSpPr>
        <p:spPr>
          <a:xfrm>
            <a:off x="1920240" y="868680"/>
            <a:ext cx="1664208" cy="474025"/>
          </a:xfrm>
          <a:prstGeom prst="rect">
            <a:avLst/>
          </a:prstGeom>
          <a:noFill/>
          <a:ln/>
        </p:spPr>
        <p:txBody>
          <a:bodyPr wrap="square" lIns="0" tIns="0" rIns="0" bIns="0" rtlCol="0" anchor="ctr"/>
          <a:lstStyle/>
          <a:p>
            <a:pPr marL="0" indent="0" algn="ctr">
              <a:buNone/>
            </a:pPr>
            <a:r>
              <a:rPr lang="en-US" sz="2800" b="1" dirty="0">
                <a:solidFill>
                  <a:srgbClr val="DC2626"/>
                </a:solidFill>
                <a:latin typeface="Calibri" pitchFamily="34" charset="0"/>
                <a:ea typeface="Calibri" pitchFamily="34" charset="-122"/>
                <a:cs typeface="Calibri" pitchFamily="34" charset="-120"/>
              </a:rPr>
              <a:t>16%</a:t>
            </a:r>
            <a:endParaRPr lang="en-US" sz="2800" dirty="0"/>
          </a:p>
        </p:txBody>
      </p:sp>
      <p:sp>
        <p:nvSpPr>
          <p:cNvPr id="9" name="Text 7"/>
          <p:cNvSpPr/>
          <p:nvPr/>
        </p:nvSpPr>
        <p:spPr>
          <a:xfrm>
            <a:off x="1920240" y="1321491"/>
            <a:ext cx="1664208" cy="280904"/>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Cancellation Rate</a:t>
            </a:r>
            <a:endParaRPr lang="en-US" sz="1100" dirty="0"/>
          </a:p>
        </p:txBody>
      </p:sp>
      <p:sp>
        <p:nvSpPr>
          <p:cNvPr id="10" name="Shape 8"/>
          <p:cNvSpPr/>
          <p:nvPr/>
        </p:nvSpPr>
        <p:spPr>
          <a:xfrm>
            <a:off x="3703320" y="777240"/>
            <a:ext cx="1664208" cy="877824"/>
          </a:xfrm>
          <a:prstGeom prst="rect">
            <a:avLst/>
          </a:prstGeom>
          <a:solidFill>
            <a:srgbClr val="0A1525"/>
          </a:solidFill>
          <a:ln w="12700">
            <a:solidFill>
              <a:srgbClr val="0D9488"/>
            </a:solidFill>
            <a:prstDash val="solid"/>
          </a:ln>
        </p:spPr>
        <p:txBody>
          <a:bodyPr/>
          <a:lstStyle/>
          <a:p>
            <a:endParaRPr lang="en-US"/>
          </a:p>
        </p:txBody>
      </p:sp>
      <p:sp>
        <p:nvSpPr>
          <p:cNvPr id="11" name="Text 9"/>
          <p:cNvSpPr/>
          <p:nvPr/>
        </p:nvSpPr>
        <p:spPr>
          <a:xfrm>
            <a:off x="3703320" y="868680"/>
            <a:ext cx="1664208" cy="474025"/>
          </a:xfrm>
          <a:prstGeom prst="rect">
            <a:avLst/>
          </a:prstGeom>
          <a:noFill/>
          <a:ln/>
        </p:spPr>
        <p:txBody>
          <a:bodyPr wrap="square" lIns="0" tIns="0" rIns="0" bIns="0" rtlCol="0" anchor="ctr"/>
          <a:lstStyle/>
          <a:p>
            <a:pPr marL="0" indent="0" algn="ctr">
              <a:buNone/>
            </a:pPr>
            <a:r>
              <a:rPr lang="en-US" sz="2800" b="1" dirty="0">
                <a:solidFill>
                  <a:srgbClr val="DC2626"/>
                </a:solidFill>
                <a:latin typeface="Calibri" pitchFamily="34" charset="0"/>
                <a:ea typeface="Calibri" pitchFamily="34" charset="-122"/>
                <a:cs typeface="Calibri" pitchFamily="34" charset="-120"/>
              </a:rPr>
              <a:t>KES 199M</a:t>
            </a:r>
            <a:endParaRPr lang="en-US" sz="2800" dirty="0"/>
          </a:p>
        </p:txBody>
      </p:sp>
      <p:sp>
        <p:nvSpPr>
          <p:cNvPr id="12" name="Text 10"/>
          <p:cNvSpPr/>
          <p:nvPr/>
        </p:nvSpPr>
        <p:spPr>
          <a:xfrm>
            <a:off x="3703320" y="1321491"/>
            <a:ext cx="1664208" cy="280904"/>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Lost Revenue</a:t>
            </a:r>
            <a:endParaRPr lang="en-US" sz="1100" dirty="0"/>
          </a:p>
        </p:txBody>
      </p:sp>
      <p:sp>
        <p:nvSpPr>
          <p:cNvPr id="13" name="Shape 11"/>
          <p:cNvSpPr/>
          <p:nvPr/>
        </p:nvSpPr>
        <p:spPr>
          <a:xfrm>
            <a:off x="5486400" y="777240"/>
            <a:ext cx="1664208" cy="877824"/>
          </a:xfrm>
          <a:prstGeom prst="rect">
            <a:avLst/>
          </a:prstGeom>
          <a:solidFill>
            <a:srgbClr val="0A1525"/>
          </a:solidFill>
          <a:ln w="12700">
            <a:solidFill>
              <a:srgbClr val="0D9488"/>
            </a:solidFill>
            <a:prstDash val="solid"/>
          </a:ln>
        </p:spPr>
        <p:txBody>
          <a:bodyPr/>
          <a:lstStyle/>
          <a:p>
            <a:endParaRPr lang="en-US"/>
          </a:p>
        </p:txBody>
      </p:sp>
      <p:sp>
        <p:nvSpPr>
          <p:cNvPr id="14" name="Text 12"/>
          <p:cNvSpPr/>
          <p:nvPr/>
        </p:nvSpPr>
        <p:spPr>
          <a:xfrm>
            <a:off x="5486400" y="868680"/>
            <a:ext cx="1664208" cy="474025"/>
          </a:xfrm>
          <a:prstGeom prst="rect">
            <a:avLst/>
          </a:prstGeom>
          <a:noFill/>
          <a:ln/>
        </p:spPr>
        <p:txBody>
          <a:bodyPr wrap="square" lIns="0" tIns="0" rIns="0" bIns="0" rtlCol="0" anchor="ctr"/>
          <a:lstStyle/>
          <a:p>
            <a:pPr marL="0" indent="0" algn="ctr">
              <a:buNone/>
            </a:pPr>
            <a:r>
              <a:rPr lang="en-US" sz="2800" b="1" dirty="0">
                <a:solidFill>
                  <a:srgbClr val="0D9488"/>
                </a:solidFill>
                <a:latin typeface="Calibri" pitchFamily="34" charset="0"/>
                <a:ea typeface="Calibri" pitchFamily="34" charset="-122"/>
                <a:cs typeface="Calibri" pitchFamily="34" charset="-120"/>
              </a:rPr>
              <a:t>1%</a:t>
            </a:r>
            <a:endParaRPr lang="en-US" sz="2800" dirty="0"/>
          </a:p>
        </p:txBody>
      </p:sp>
      <p:sp>
        <p:nvSpPr>
          <p:cNvPr id="15" name="Text 13"/>
          <p:cNvSpPr/>
          <p:nvPr/>
        </p:nvSpPr>
        <p:spPr>
          <a:xfrm>
            <a:off x="5486400" y="1321491"/>
            <a:ext cx="1664208" cy="280904"/>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Refund Rate</a:t>
            </a:r>
            <a:endParaRPr lang="en-US" sz="1100" dirty="0"/>
          </a:p>
        </p:txBody>
      </p:sp>
      <p:sp>
        <p:nvSpPr>
          <p:cNvPr id="16" name="Shape 14"/>
          <p:cNvSpPr/>
          <p:nvPr/>
        </p:nvSpPr>
        <p:spPr>
          <a:xfrm>
            <a:off x="7269480" y="777240"/>
            <a:ext cx="1664208" cy="877824"/>
          </a:xfrm>
          <a:prstGeom prst="rect">
            <a:avLst/>
          </a:prstGeom>
          <a:solidFill>
            <a:srgbClr val="0A1525"/>
          </a:solidFill>
          <a:ln w="12700">
            <a:solidFill>
              <a:srgbClr val="0D9488"/>
            </a:solidFill>
            <a:prstDash val="solid"/>
          </a:ln>
        </p:spPr>
        <p:txBody>
          <a:bodyPr/>
          <a:lstStyle/>
          <a:p>
            <a:endParaRPr lang="en-US"/>
          </a:p>
        </p:txBody>
      </p:sp>
      <p:sp>
        <p:nvSpPr>
          <p:cNvPr id="17" name="Text 15"/>
          <p:cNvSpPr/>
          <p:nvPr/>
        </p:nvSpPr>
        <p:spPr>
          <a:xfrm>
            <a:off x="7269480" y="868680"/>
            <a:ext cx="1664208" cy="474025"/>
          </a:xfrm>
          <a:prstGeom prst="rect">
            <a:avLst/>
          </a:prstGeom>
          <a:noFill/>
          <a:ln/>
        </p:spPr>
        <p:txBody>
          <a:bodyPr wrap="square" lIns="0" tIns="0" rIns="0" bIns="0" rtlCol="0" anchor="ctr"/>
          <a:lstStyle/>
          <a:p>
            <a:pPr marL="0" indent="0" algn="ctr">
              <a:buNone/>
            </a:pPr>
            <a:r>
              <a:rPr lang="en-US" sz="2800" b="1" dirty="0">
                <a:solidFill>
                  <a:srgbClr val="0D9488"/>
                </a:solidFill>
                <a:latin typeface="Calibri" pitchFamily="34" charset="0"/>
                <a:ea typeface="Calibri" pitchFamily="34" charset="-122"/>
                <a:cs typeface="Calibri" pitchFamily="34" charset="-120"/>
              </a:rPr>
              <a:t>183.16%</a:t>
            </a:r>
            <a:endParaRPr lang="en-US" sz="2800" dirty="0"/>
          </a:p>
        </p:txBody>
      </p:sp>
      <p:sp>
        <p:nvSpPr>
          <p:cNvPr id="18" name="Text 16"/>
          <p:cNvSpPr/>
          <p:nvPr/>
        </p:nvSpPr>
        <p:spPr>
          <a:xfrm>
            <a:off x="7269480" y="1321491"/>
            <a:ext cx="1664208" cy="280904"/>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YoY Growth 2016→17-18</a:t>
            </a:r>
            <a:endParaRPr lang="en-US" sz="1100" dirty="0"/>
          </a:p>
        </p:txBody>
      </p:sp>
      <p:sp>
        <p:nvSpPr>
          <p:cNvPr id="19" name="Shape 17"/>
          <p:cNvSpPr/>
          <p:nvPr/>
        </p:nvSpPr>
        <p:spPr>
          <a:xfrm>
            <a:off x="256032" y="1792224"/>
            <a:ext cx="4160520" cy="1536192"/>
          </a:xfrm>
          <a:prstGeom prst="rect">
            <a:avLst/>
          </a:prstGeom>
          <a:solidFill>
            <a:srgbClr val="0A1525"/>
          </a:solidFill>
          <a:ln w="12700">
            <a:solidFill>
              <a:srgbClr val="0D9488"/>
            </a:solidFill>
            <a:prstDash val="solid"/>
          </a:ln>
        </p:spPr>
        <p:txBody>
          <a:bodyPr/>
          <a:lstStyle/>
          <a:p>
            <a:endParaRPr lang="en-US"/>
          </a:p>
        </p:txBody>
      </p:sp>
      <p:sp>
        <p:nvSpPr>
          <p:cNvPr id="20" name="Text 18"/>
          <p:cNvSpPr/>
          <p:nvPr/>
        </p:nvSpPr>
        <p:spPr>
          <a:xfrm>
            <a:off x="384048" y="1883664"/>
            <a:ext cx="3913632" cy="256032"/>
          </a:xfrm>
          <a:prstGeom prst="rect">
            <a:avLst/>
          </a:prstGeom>
          <a:noFill/>
          <a:ln/>
        </p:spPr>
        <p:txBody>
          <a:bodyPr wrap="square" lIns="0" tIns="0" rIns="0" bIns="0" rtlCol="0" anchor="ctr"/>
          <a:lstStyle/>
          <a:p>
            <a:pPr marL="0" indent="0">
              <a:buNone/>
            </a:pPr>
            <a:r>
              <a:rPr lang="en-US" sz="1500" b="1" dirty="0">
                <a:solidFill>
                  <a:srgbClr val="0D9488"/>
                </a:solidFill>
                <a:latin typeface="Calibri" pitchFamily="34" charset="0"/>
                <a:ea typeface="Calibri" pitchFamily="34" charset="-122"/>
                <a:cs typeface="Calibri" pitchFamily="34" charset="-120"/>
              </a:rPr>
              <a:t>Revenue &amp; Growth</a:t>
            </a:r>
            <a:endParaRPr lang="en-US" sz="1500" dirty="0"/>
          </a:p>
        </p:txBody>
      </p:sp>
      <p:sp>
        <p:nvSpPr>
          <p:cNvPr id="21" name="Text 19"/>
          <p:cNvSpPr/>
          <p:nvPr/>
        </p:nvSpPr>
        <p:spPr>
          <a:xfrm>
            <a:off x="384048" y="2194560"/>
            <a:ext cx="3913632" cy="1060704"/>
          </a:xfrm>
          <a:prstGeom prst="rect">
            <a:avLst/>
          </a:prstGeom>
          <a:noFill/>
          <a:ln/>
        </p:spPr>
        <p:txBody>
          <a:bodyPr wrap="square" lIns="0" tIns="0" rIns="0" bIns="0" rtlCol="0" anchor="t"/>
          <a:lstStyle/>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Revenue grew 147% from 2016 to 2017 — very strong growth</a:t>
            </a:r>
            <a:endParaRPr lang="en-US" sz="1200" dirty="0"/>
          </a:p>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2018 is a partial year — declining trend line is misleading</a:t>
            </a:r>
            <a:endParaRPr lang="en-US" sz="1200" dirty="0"/>
          </a:p>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COD is the single largest revenue driver across all channels</a:t>
            </a:r>
            <a:endParaRPr lang="en-US" sz="1200" dirty="0"/>
          </a:p>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100% of sales go through commission — no direct sales exist</a:t>
            </a:r>
            <a:endParaRPr lang="en-US" sz="1200" dirty="0"/>
          </a:p>
        </p:txBody>
      </p:sp>
      <p:sp>
        <p:nvSpPr>
          <p:cNvPr id="22" name="Shape 20"/>
          <p:cNvSpPr/>
          <p:nvPr/>
        </p:nvSpPr>
        <p:spPr>
          <a:xfrm>
            <a:off x="4608576" y="1792224"/>
            <a:ext cx="4160520" cy="1536192"/>
          </a:xfrm>
          <a:prstGeom prst="rect">
            <a:avLst/>
          </a:prstGeom>
          <a:solidFill>
            <a:srgbClr val="0A1525"/>
          </a:solidFill>
          <a:ln w="12700">
            <a:solidFill>
              <a:srgbClr val="DC2626"/>
            </a:solidFill>
            <a:prstDash val="solid"/>
          </a:ln>
        </p:spPr>
        <p:txBody>
          <a:bodyPr/>
          <a:lstStyle/>
          <a:p>
            <a:endParaRPr lang="en-US"/>
          </a:p>
        </p:txBody>
      </p:sp>
      <p:sp>
        <p:nvSpPr>
          <p:cNvPr id="23" name="Text 21"/>
          <p:cNvSpPr/>
          <p:nvPr/>
        </p:nvSpPr>
        <p:spPr>
          <a:xfrm>
            <a:off x="4736592" y="1883664"/>
            <a:ext cx="3913632" cy="256032"/>
          </a:xfrm>
          <a:prstGeom prst="rect">
            <a:avLst/>
          </a:prstGeom>
          <a:noFill/>
          <a:ln/>
        </p:spPr>
        <p:txBody>
          <a:bodyPr wrap="square" lIns="0" tIns="0" rIns="0" bIns="0" rtlCol="0" anchor="ctr"/>
          <a:lstStyle/>
          <a:p>
            <a:pPr marL="0" indent="0">
              <a:buNone/>
            </a:pPr>
            <a:r>
              <a:rPr lang="en-US" sz="1500" b="1" dirty="0">
                <a:solidFill>
                  <a:srgbClr val="DC2626"/>
                </a:solidFill>
                <a:latin typeface="Calibri" pitchFamily="34" charset="0"/>
                <a:ea typeface="Calibri" pitchFamily="34" charset="-122"/>
                <a:cs typeface="Calibri" pitchFamily="34" charset="-120"/>
              </a:rPr>
              <a:t>Operations &amp; Loss</a:t>
            </a:r>
            <a:endParaRPr lang="en-US" sz="1500" dirty="0"/>
          </a:p>
        </p:txBody>
      </p:sp>
      <p:sp>
        <p:nvSpPr>
          <p:cNvPr id="24" name="Text 22"/>
          <p:cNvSpPr/>
          <p:nvPr/>
        </p:nvSpPr>
        <p:spPr>
          <a:xfrm>
            <a:off x="4736592" y="2194560"/>
            <a:ext cx="3913632" cy="1060704"/>
          </a:xfrm>
          <a:prstGeom prst="rect">
            <a:avLst/>
          </a:prstGeom>
          <a:noFill/>
          <a:ln/>
        </p:spPr>
        <p:txBody>
          <a:bodyPr wrap="square" lIns="0" tIns="0" rIns="0" bIns="0" rtlCol="0" anchor="t"/>
          <a:lstStyle/>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16 in every 100 orders cancelled — above healthy threshold</a:t>
            </a:r>
            <a:endParaRPr lang="en-US" sz="1200" dirty="0"/>
          </a:p>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KES 199M lost — that is 30% of total revenue disappearing</a:t>
            </a:r>
            <a:endParaRPr lang="en-US" sz="1200" dirty="0"/>
          </a:p>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COD carries highest cancellation risk — no upfront commitment</a:t>
            </a:r>
            <a:endParaRPr lang="en-US" sz="1200" dirty="0"/>
          </a:p>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Two refund statuses suggest an inconsistent returns process</a:t>
            </a:r>
            <a:endParaRPr lang="en-US" sz="1200" dirty="0"/>
          </a:p>
        </p:txBody>
      </p:sp>
      <p:sp>
        <p:nvSpPr>
          <p:cNvPr id="25" name="Shape 23"/>
          <p:cNvSpPr/>
          <p:nvPr/>
        </p:nvSpPr>
        <p:spPr>
          <a:xfrm>
            <a:off x="256032" y="3438144"/>
            <a:ext cx="4160520" cy="1536192"/>
          </a:xfrm>
          <a:prstGeom prst="rect">
            <a:avLst/>
          </a:prstGeom>
          <a:solidFill>
            <a:srgbClr val="0A1525"/>
          </a:solidFill>
          <a:ln w="12700">
            <a:solidFill>
              <a:srgbClr val="F59E0B"/>
            </a:solidFill>
            <a:prstDash val="solid"/>
          </a:ln>
        </p:spPr>
        <p:txBody>
          <a:bodyPr/>
          <a:lstStyle/>
          <a:p>
            <a:endParaRPr lang="en-US"/>
          </a:p>
        </p:txBody>
      </p:sp>
      <p:sp>
        <p:nvSpPr>
          <p:cNvPr id="26" name="Text 24"/>
          <p:cNvSpPr/>
          <p:nvPr/>
        </p:nvSpPr>
        <p:spPr>
          <a:xfrm>
            <a:off x="384048" y="3529584"/>
            <a:ext cx="3913632" cy="256032"/>
          </a:xfrm>
          <a:prstGeom prst="rect">
            <a:avLst/>
          </a:prstGeom>
          <a:noFill/>
          <a:ln/>
        </p:spPr>
        <p:txBody>
          <a:bodyPr wrap="square" lIns="0" tIns="0" rIns="0" bIns="0" rtlCol="0" anchor="ctr"/>
          <a:lstStyle/>
          <a:p>
            <a:pPr marL="0" indent="0">
              <a:buNone/>
            </a:pPr>
            <a:r>
              <a:rPr lang="en-US" sz="1500" b="1" dirty="0">
                <a:solidFill>
                  <a:srgbClr val="F59E0B"/>
                </a:solidFill>
                <a:latin typeface="Calibri" pitchFamily="34" charset="0"/>
                <a:ea typeface="Calibri" pitchFamily="34" charset="-122"/>
                <a:cs typeface="Calibri" pitchFamily="34" charset="-120"/>
              </a:rPr>
              <a:t>Discounts &amp; Pricing</a:t>
            </a:r>
            <a:endParaRPr lang="en-US" sz="1500" dirty="0"/>
          </a:p>
        </p:txBody>
      </p:sp>
      <p:sp>
        <p:nvSpPr>
          <p:cNvPr id="27" name="Text 25"/>
          <p:cNvSpPr/>
          <p:nvPr/>
        </p:nvSpPr>
        <p:spPr>
          <a:xfrm>
            <a:off x="384048" y="3840480"/>
            <a:ext cx="3913632" cy="1060704"/>
          </a:xfrm>
          <a:prstGeom prst="rect">
            <a:avLst/>
          </a:prstGeom>
          <a:noFill/>
          <a:ln/>
        </p:spPr>
        <p:txBody>
          <a:bodyPr wrap="square" lIns="0" tIns="0" rIns="0" bIns="0" rtlCol="0" anchor="t"/>
          <a:lstStyle/>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Zero correlation — discounts do NOT increase revenue</a:t>
            </a:r>
            <a:endParaRPr lang="en-US" sz="1200" dirty="0"/>
          </a:p>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Zero correlation — more items sold does not mean more revenue</a:t>
            </a:r>
            <a:endParaRPr lang="en-US" sz="1200" dirty="0"/>
          </a:p>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Every discount is pure cost with no measurable return</a:t>
            </a:r>
            <a:endParaRPr lang="en-US" sz="1200" dirty="0"/>
          </a:p>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True profit margin unavailable — no cost price data exists</a:t>
            </a:r>
            <a:endParaRPr lang="en-US" sz="1200" dirty="0"/>
          </a:p>
        </p:txBody>
      </p:sp>
      <p:sp>
        <p:nvSpPr>
          <p:cNvPr id="28" name="Shape 26"/>
          <p:cNvSpPr/>
          <p:nvPr/>
        </p:nvSpPr>
        <p:spPr>
          <a:xfrm>
            <a:off x="4599432" y="3438144"/>
            <a:ext cx="4160520" cy="1571277"/>
          </a:xfrm>
          <a:prstGeom prst="rect">
            <a:avLst/>
          </a:prstGeom>
          <a:solidFill>
            <a:srgbClr val="0A1525"/>
          </a:solidFill>
          <a:ln w="12700">
            <a:solidFill>
              <a:srgbClr val="7C3AED"/>
            </a:solidFill>
            <a:prstDash val="solid"/>
          </a:ln>
        </p:spPr>
        <p:txBody>
          <a:bodyPr/>
          <a:lstStyle/>
          <a:p>
            <a:endParaRPr lang="en-US"/>
          </a:p>
        </p:txBody>
      </p:sp>
      <p:sp>
        <p:nvSpPr>
          <p:cNvPr id="29" name="Text 27"/>
          <p:cNvSpPr/>
          <p:nvPr/>
        </p:nvSpPr>
        <p:spPr>
          <a:xfrm>
            <a:off x="4722876" y="3395941"/>
            <a:ext cx="3913632" cy="256032"/>
          </a:xfrm>
          <a:prstGeom prst="rect">
            <a:avLst/>
          </a:prstGeom>
          <a:noFill/>
          <a:ln/>
        </p:spPr>
        <p:txBody>
          <a:bodyPr wrap="square" lIns="0" tIns="0" rIns="0" bIns="0"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Customers</a:t>
            </a:r>
            <a:endParaRPr lang="en-US" sz="1500" dirty="0"/>
          </a:p>
        </p:txBody>
      </p:sp>
      <p:sp>
        <p:nvSpPr>
          <p:cNvPr id="30" name="Text 28"/>
          <p:cNvSpPr/>
          <p:nvPr/>
        </p:nvSpPr>
        <p:spPr>
          <a:xfrm>
            <a:off x="4671881" y="3651972"/>
            <a:ext cx="3913632" cy="1308999"/>
          </a:xfrm>
          <a:prstGeom prst="rect">
            <a:avLst/>
          </a:prstGeom>
          <a:noFill/>
          <a:ln/>
        </p:spPr>
        <p:txBody>
          <a:bodyPr wrap="square" lIns="0" tIns="0" rIns="0" bIns="0" rtlCol="0" anchor="t"/>
          <a:lstStyle/>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Discounted customers vs non-discounted now measured and visible</a:t>
            </a:r>
            <a:endParaRPr lang="en-US" sz="1200" dirty="0"/>
          </a:p>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Churn rate calculated — customers lost year on year now tracked</a:t>
            </a:r>
            <a:endParaRPr lang="en-US" sz="1200" dirty="0"/>
          </a:p>
          <a:p>
            <a:pPr marL="0" indent="0">
              <a:spcAft>
                <a:spcPts val="600"/>
              </a:spcAft>
              <a:buNone/>
            </a:pPr>
            <a:r>
              <a:rPr lang="en-US" sz="1200" dirty="0">
                <a:solidFill>
                  <a:srgbClr val="FFFFFF"/>
                </a:solidFill>
                <a:latin typeface="Calibri" pitchFamily="34" charset="0"/>
                <a:ea typeface="Calibri" pitchFamily="34" charset="-122"/>
                <a:cs typeface="Calibri" pitchFamily="34" charset="-120"/>
              </a:rPr>
              <a:t>• Top 10 customer revenue % — business dependency now visible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841248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08  —  Recommendations</a:t>
            </a:r>
            <a:endParaRPr lang="en-US" sz="2400" dirty="0"/>
          </a:p>
        </p:txBody>
      </p:sp>
      <p:sp>
        <p:nvSpPr>
          <p:cNvPr id="4" name="Shape 2"/>
          <p:cNvSpPr/>
          <p:nvPr/>
        </p:nvSpPr>
        <p:spPr>
          <a:xfrm>
            <a:off x="256032" y="804672"/>
            <a:ext cx="4138715" cy="2176272"/>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5" name="Shape 3"/>
          <p:cNvSpPr/>
          <p:nvPr/>
        </p:nvSpPr>
        <p:spPr>
          <a:xfrm>
            <a:off x="256032" y="804672"/>
            <a:ext cx="548640" cy="2048256"/>
          </a:xfrm>
          <a:prstGeom prst="rect">
            <a:avLst/>
          </a:prstGeom>
          <a:solidFill>
            <a:srgbClr val="DC2626"/>
          </a:solidFill>
          <a:ln w="12700">
            <a:solidFill>
              <a:srgbClr val="DC2626"/>
            </a:solidFill>
            <a:prstDash val="solid"/>
          </a:ln>
        </p:spPr>
        <p:txBody>
          <a:bodyPr/>
          <a:lstStyle/>
          <a:p>
            <a:endParaRPr lang="en-US"/>
          </a:p>
        </p:txBody>
      </p:sp>
      <p:sp>
        <p:nvSpPr>
          <p:cNvPr id="6" name="Text 4"/>
          <p:cNvSpPr/>
          <p:nvPr/>
        </p:nvSpPr>
        <p:spPr>
          <a:xfrm>
            <a:off x="256032" y="1554480"/>
            <a:ext cx="548640" cy="43891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877824" y="896112"/>
            <a:ext cx="3456432" cy="329184"/>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Reduce the Cancellation Rate Urgently</a:t>
            </a:r>
            <a:endParaRPr lang="en-US" sz="1500" dirty="0"/>
          </a:p>
        </p:txBody>
      </p:sp>
      <p:sp>
        <p:nvSpPr>
          <p:cNvPr id="8" name="Text 6"/>
          <p:cNvSpPr/>
          <p:nvPr/>
        </p:nvSpPr>
        <p:spPr>
          <a:xfrm>
            <a:off x="877824" y="1280160"/>
            <a:ext cx="3456432" cy="1499616"/>
          </a:xfrm>
          <a:prstGeom prst="rect">
            <a:avLst/>
          </a:prstGeom>
          <a:noFill/>
          <a:ln/>
        </p:spPr>
        <p:txBody>
          <a:bodyPr wrap="square" lIns="0" tIns="0" rIns="0" bIns="0" rtlCol="0" anchor="t"/>
          <a:lstStyle/>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16% cancellation rate = KES 199M in lost revenue every cycle</a:t>
            </a:r>
            <a:endParaRPr lang="en-US" sz="1200" dirty="0"/>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COD is the biggest driver — no customer commitment before delivery</a:t>
            </a:r>
            <a:endParaRPr lang="en-US" sz="1200" dirty="0"/>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Introduce upfront payment incentives — small discount for prepaid orders</a:t>
            </a:r>
            <a:endParaRPr lang="en-US" sz="1200" dirty="0"/>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Add cancellation friction — require a reason before allowing cancellation</a:t>
            </a:r>
            <a:endParaRPr lang="en-US" sz="1200" dirty="0"/>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Target: reduce cancellation rate below 10% within 6 months</a:t>
            </a:r>
            <a:endParaRPr lang="en-US" sz="1200" dirty="0"/>
          </a:p>
        </p:txBody>
      </p:sp>
      <p:sp>
        <p:nvSpPr>
          <p:cNvPr id="9" name="Shape 7"/>
          <p:cNvSpPr/>
          <p:nvPr/>
        </p:nvSpPr>
        <p:spPr>
          <a:xfrm>
            <a:off x="4608575" y="804672"/>
            <a:ext cx="4218901" cy="2176272"/>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0" name="Shape 8"/>
          <p:cNvSpPr/>
          <p:nvPr/>
        </p:nvSpPr>
        <p:spPr>
          <a:xfrm>
            <a:off x="4608576" y="804672"/>
            <a:ext cx="548640" cy="2048256"/>
          </a:xfrm>
          <a:prstGeom prst="rect">
            <a:avLst/>
          </a:prstGeom>
          <a:solidFill>
            <a:srgbClr val="F59E0B"/>
          </a:solidFill>
          <a:ln w="12700">
            <a:solidFill>
              <a:srgbClr val="F59E0B"/>
            </a:solidFill>
            <a:prstDash val="solid"/>
          </a:ln>
        </p:spPr>
        <p:txBody>
          <a:bodyPr/>
          <a:lstStyle/>
          <a:p>
            <a:endParaRPr lang="en-US"/>
          </a:p>
        </p:txBody>
      </p:sp>
      <p:sp>
        <p:nvSpPr>
          <p:cNvPr id="11" name="Text 9"/>
          <p:cNvSpPr/>
          <p:nvPr/>
        </p:nvSpPr>
        <p:spPr>
          <a:xfrm>
            <a:off x="4608576" y="1554480"/>
            <a:ext cx="548640" cy="43891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2" name="Text 10"/>
          <p:cNvSpPr/>
          <p:nvPr/>
        </p:nvSpPr>
        <p:spPr>
          <a:xfrm>
            <a:off x="5230368" y="814871"/>
            <a:ext cx="3456432" cy="329184"/>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Stop Giving Discounts That Do Not Work</a:t>
            </a:r>
            <a:endParaRPr lang="en-US" sz="1500" dirty="0"/>
          </a:p>
        </p:txBody>
      </p:sp>
      <p:sp>
        <p:nvSpPr>
          <p:cNvPr id="13" name="Text 11"/>
          <p:cNvSpPr/>
          <p:nvPr/>
        </p:nvSpPr>
        <p:spPr>
          <a:xfrm>
            <a:off x="5157216" y="1106424"/>
            <a:ext cx="3456432" cy="1499616"/>
          </a:xfrm>
          <a:prstGeom prst="rect">
            <a:avLst/>
          </a:prstGeom>
          <a:noFill/>
          <a:ln/>
        </p:spPr>
        <p:txBody>
          <a:bodyPr wrap="square" lIns="0" tIns="0" rIns="0" bIns="0" rtlCol="0" anchor="t"/>
          <a:lstStyle/>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Zero correlation proven — discounts have no measurable impact on revenue</a:t>
            </a:r>
            <a:endParaRPr lang="en-US" sz="1200" dirty="0"/>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Every discount given is pure cost with absolutely no return benefit</a:t>
            </a:r>
            <a:endParaRPr lang="en-US" sz="1200" dirty="0"/>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Eliminate blanket discount strategies immediately</a:t>
            </a:r>
            <a:endParaRPr lang="en-US" sz="1200" dirty="0"/>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Replace with targeted discounts for repeat customers only</a:t>
            </a:r>
            <a:endParaRPr lang="en-US" sz="1200" dirty="0"/>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Redirect the discount budget into customer retention programmes</a:t>
            </a:r>
            <a:endParaRPr lang="en-US" sz="1200" dirty="0"/>
          </a:p>
        </p:txBody>
      </p:sp>
      <p:sp>
        <p:nvSpPr>
          <p:cNvPr id="14" name="Shape 12"/>
          <p:cNvSpPr/>
          <p:nvPr/>
        </p:nvSpPr>
        <p:spPr>
          <a:xfrm>
            <a:off x="256032" y="2980944"/>
            <a:ext cx="4218900" cy="2162556"/>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5" name="Shape 13"/>
          <p:cNvSpPr/>
          <p:nvPr/>
        </p:nvSpPr>
        <p:spPr>
          <a:xfrm>
            <a:off x="256032" y="2980944"/>
            <a:ext cx="548640" cy="2048256"/>
          </a:xfrm>
          <a:prstGeom prst="rect">
            <a:avLst/>
          </a:prstGeom>
          <a:solidFill>
            <a:srgbClr val="7C3AED"/>
          </a:solidFill>
          <a:ln w="12700">
            <a:solidFill>
              <a:srgbClr val="7C3AED"/>
            </a:solidFill>
            <a:prstDash val="solid"/>
          </a:ln>
        </p:spPr>
        <p:txBody>
          <a:bodyPr/>
          <a:lstStyle/>
          <a:p>
            <a:endParaRPr lang="en-US"/>
          </a:p>
        </p:txBody>
      </p:sp>
      <p:sp>
        <p:nvSpPr>
          <p:cNvPr id="16" name="Text 14"/>
          <p:cNvSpPr/>
          <p:nvPr/>
        </p:nvSpPr>
        <p:spPr>
          <a:xfrm>
            <a:off x="256032" y="3730752"/>
            <a:ext cx="548640" cy="43891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17" name="Text 15"/>
          <p:cNvSpPr/>
          <p:nvPr/>
        </p:nvSpPr>
        <p:spPr>
          <a:xfrm>
            <a:off x="877824" y="3072384"/>
            <a:ext cx="3456432" cy="329184"/>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Invest in Customer Retention</a:t>
            </a:r>
            <a:endParaRPr lang="en-US" sz="1500" dirty="0"/>
          </a:p>
        </p:txBody>
      </p:sp>
      <p:sp>
        <p:nvSpPr>
          <p:cNvPr id="18" name="Text 16"/>
          <p:cNvSpPr/>
          <p:nvPr/>
        </p:nvSpPr>
        <p:spPr>
          <a:xfrm>
            <a:off x="877824" y="3456432"/>
            <a:ext cx="3456432" cy="1499616"/>
          </a:xfrm>
          <a:prstGeom prst="rect">
            <a:avLst/>
          </a:prstGeom>
          <a:noFill/>
          <a:ln/>
        </p:spPr>
        <p:txBody>
          <a:bodyPr wrap="square" lIns="0" tIns="0" rIns="0" bIns="0" rtlCol="0" anchor="t"/>
          <a:lstStyle/>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Acquiring new customers costs more than keeping existing ones</a:t>
            </a:r>
            <a:endParaRPr lang="en-US" sz="1200" dirty="0"/>
          </a:p>
          <a:p>
            <a:pPr>
              <a:spcAft>
                <a:spcPts val="500"/>
              </a:spcAft>
            </a:pPr>
            <a:r>
              <a:rPr lang="en-US" sz="1200" dirty="0">
                <a:solidFill>
                  <a:srgbClr val="1E293B"/>
                </a:solidFill>
                <a:latin typeface="Calibri" pitchFamily="34" charset="0"/>
                <a:ea typeface="Calibri" pitchFamily="34" charset="-122"/>
                <a:cs typeface="Calibri" pitchFamily="34" charset="-120"/>
              </a:rPr>
              <a:t>•</a:t>
            </a:r>
            <a:r>
              <a:rPr lang="en-US" sz="1200" dirty="0"/>
              <a:t>Loyalty programs should be offered to high-value customers identified by average sales per customer.</a:t>
            </a:r>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Even converting 5% of one-time buyers to repeat customers grows revenue</a:t>
            </a:r>
            <a:endParaRPr lang="en-US" sz="1200" dirty="0"/>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Use the Customer Analysis dashboard to identify and target top spenders</a:t>
            </a:r>
            <a:endParaRPr lang="en-US" sz="1200" dirty="0"/>
          </a:p>
        </p:txBody>
      </p:sp>
      <p:sp>
        <p:nvSpPr>
          <p:cNvPr id="19" name="Shape 17"/>
          <p:cNvSpPr/>
          <p:nvPr/>
        </p:nvSpPr>
        <p:spPr>
          <a:xfrm>
            <a:off x="4572000" y="2980944"/>
            <a:ext cx="4197096" cy="2107692"/>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20" name="Shape 18"/>
          <p:cNvSpPr/>
          <p:nvPr/>
        </p:nvSpPr>
        <p:spPr>
          <a:xfrm>
            <a:off x="4608576" y="2980944"/>
            <a:ext cx="548640" cy="2162556"/>
          </a:xfrm>
          <a:prstGeom prst="rect">
            <a:avLst/>
          </a:prstGeom>
          <a:solidFill>
            <a:srgbClr val="0D9488"/>
          </a:solidFill>
          <a:ln w="12700">
            <a:solidFill>
              <a:srgbClr val="0D9488"/>
            </a:solidFill>
            <a:prstDash val="solid"/>
          </a:ln>
        </p:spPr>
        <p:txBody>
          <a:bodyPr/>
          <a:lstStyle/>
          <a:p>
            <a:endParaRPr lang="en-US"/>
          </a:p>
        </p:txBody>
      </p:sp>
      <p:sp>
        <p:nvSpPr>
          <p:cNvPr id="21" name="Text 19"/>
          <p:cNvSpPr/>
          <p:nvPr/>
        </p:nvSpPr>
        <p:spPr>
          <a:xfrm>
            <a:off x="4608576" y="3730752"/>
            <a:ext cx="548640" cy="438912"/>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04</a:t>
            </a:r>
            <a:endParaRPr lang="en-US" sz="2200" dirty="0"/>
          </a:p>
        </p:txBody>
      </p:sp>
      <p:sp>
        <p:nvSpPr>
          <p:cNvPr id="22" name="Text 20"/>
          <p:cNvSpPr/>
          <p:nvPr/>
        </p:nvSpPr>
        <p:spPr>
          <a:xfrm>
            <a:off x="5230368" y="3072384"/>
            <a:ext cx="3456432" cy="329184"/>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Fix Data Collection for Future Analysis</a:t>
            </a:r>
            <a:endParaRPr lang="en-US" sz="1500" dirty="0"/>
          </a:p>
        </p:txBody>
      </p:sp>
      <p:sp>
        <p:nvSpPr>
          <p:cNvPr id="23" name="Text 21"/>
          <p:cNvSpPr/>
          <p:nvPr/>
        </p:nvSpPr>
        <p:spPr>
          <a:xfrm>
            <a:off x="5230368" y="3456432"/>
            <a:ext cx="3456432" cy="1632204"/>
          </a:xfrm>
          <a:prstGeom prst="rect">
            <a:avLst/>
          </a:prstGeom>
          <a:noFill/>
          <a:ln/>
        </p:spPr>
        <p:txBody>
          <a:bodyPr wrap="square" lIns="0" tIns="0" rIns="0" bIns="0" rtlCol="0" anchor="t"/>
          <a:lstStyle/>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Add product cost price — enables true profit margin analysis</a:t>
            </a:r>
            <a:endParaRPr lang="en-US" sz="1200" dirty="0"/>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Add shipping date — enables delivery time and fulfilment analysis</a:t>
            </a:r>
            <a:endParaRPr lang="en-US" sz="1200" dirty="0"/>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Ensure 2019 data covers the full calendar year for accurate YoY</a:t>
            </a:r>
            <a:endParaRPr lang="en-US" sz="1200" dirty="0"/>
          </a:p>
          <a:p>
            <a:pPr marL="0" indent="0">
              <a:spcAft>
                <a:spcPts val="500"/>
              </a:spcAft>
              <a:buNone/>
            </a:pPr>
            <a:r>
              <a:rPr lang="en-US" sz="1200" dirty="0">
                <a:solidFill>
                  <a:srgbClr val="1E293B"/>
                </a:solidFill>
                <a:latin typeface="Calibri" pitchFamily="34" charset="0"/>
                <a:ea typeface="Calibri" pitchFamily="34" charset="-122"/>
                <a:cs typeface="Calibri" pitchFamily="34" charset="-120"/>
              </a:rPr>
              <a:t>• Consider adding customer location for regional performance analysis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621792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09  —  Challenges &amp; Data Limitations</a:t>
            </a:r>
            <a:endParaRPr lang="en-US" sz="2400" dirty="0"/>
          </a:p>
        </p:txBody>
      </p:sp>
      <p:sp>
        <p:nvSpPr>
          <p:cNvPr id="4" name="Text 2"/>
          <p:cNvSpPr/>
          <p:nvPr/>
        </p:nvSpPr>
        <p:spPr>
          <a:xfrm>
            <a:off x="6400800" y="219456"/>
            <a:ext cx="2468880" cy="256032"/>
          </a:xfrm>
          <a:prstGeom prst="rect">
            <a:avLst/>
          </a:prstGeom>
          <a:noFill/>
          <a:ln/>
        </p:spPr>
        <p:txBody>
          <a:bodyPr wrap="square" lIns="0" tIns="0" rIns="0" bIns="0" rtlCol="0" anchor="ctr"/>
          <a:lstStyle/>
          <a:p>
            <a:pPr marL="0" indent="0" algn="r">
              <a:buNone/>
            </a:pPr>
            <a:r>
              <a:rPr lang="en-US" sz="1100" dirty="0">
                <a:solidFill>
                  <a:srgbClr val="0D9488"/>
                </a:solidFill>
                <a:latin typeface="Calibri" pitchFamily="34" charset="0"/>
                <a:ea typeface="Calibri" pitchFamily="34" charset="-122"/>
                <a:cs typeface="Calibri" pitchFamily="34" charset="-120"/>
              </a:rPr>
              <a:t>Part 1 — MySQL Connection Story</a:t>
            </a:r>
            <a:endParaRPr lang="en-US" sz="1100" dirty="0"/>
          </a:p>
        </p:txBody>
      </p:sp>
      <p:sp>
        <p:nvSpPr>
          <p:cNvPr id="5" name="Shape 3"/>
          <p:cNvSpPr/>
          <p:nvPr/>
        </p:nvSpPr>
        <p:spPr>
          <a:xfrm>
            <a:off x="256032" y="804672"/>
            <a:ext cx="8631936" cy="329184"/>
          </a:xfrm>
          <a:prstGeom prst="rect">
            <a:avLst/>
          </a:prstGeom>
          <a:solidFill>
            <a:srgbClr val="DC2626"/>
          </a:solidFill>
          <a:ln w="12700">
            <a:solidFill>
              <a:srgbClr val="DC2626"/>
            </a:solidFill>
            <a:prstDash val="solid"/>
          </a:ln>
        </p:spPr>
        <p:txBody>
          <a:bodyPr/>
          <a:lstStyle/>
          <a:p>
            <a:endParaRPr lang="en-US"/>
          </a:p>
        </p:txBody>
      </p:sp>
      <p:sp>
        <p:nvSpPr>
          <p:cNvPr id="6" name="Text 4"/>
          <p:cNvSpPr/>
          <p:nvPr/>
        </p:nvSpPr>
        <p:spPr>
          <a:xfrm>
            <a:off x="256032" y="822960"/>
            <a:ext cx="8631936" cy="29260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MySQL Connection — What We Tried &amp; What Happened</a:t>
            </a:r>
            <a:endParaRPr lang="en-US" sz="1500" dirty="0"/>
          </a:p>
        </p:txBody>
      </p:sp>
      <p:sp>
        <p:nvSpPr>
          <p:cNvPr id="7" name="Shape 5"/>
          <p:cNvSpPr/>
          <p:nvPr/>
        </p:nvSpPr>
        <p:spPr>
          <a:xfrm>
            <a:off x="256032" y="1225296"/>
            <a:ext cx="8631936" cy="768096"/>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8" name="Shape 6"/>
          <p:cNvSpPr/>
          <p:nvPr/>
        </p:nvSpPr>
        <p:spPr>
          <a:xfrm>
            <a:off x="256032" y="1225296"/>
            <a:ext cx="109728" cy="768096"/>
          </a:xfrm>
          <a:prstGeom prst="rect">
            <a:avLst/>
          </a:prstGeom>
          <a:solidFill>
            <a:srgbClr val="059669"/>
          </a:solidFill>
          <a:ln w="12700">
            <a:solidFill>
              <a:srgbClr val="059669"/>
            </a:solidFill>
            <a:prstDash val="solid"/>
          </a:ln>
        </p:spPr>
        <p:txBody>
          <a:bodyPr/>
          <a:lstStyle/>
          <a:p>
            <a:endParaRPr lang="en-US"/>
          </a:p>
        </p:txBody>
      </p:sp>
      <p:sp>
        <p:nvSpPr>
          <p:cNvPr id="9" name="Text 7"/>
          <p:cNvSpPr/>
          <p:nvPr/>
        </p:nvSpPr>
        <p:spPr>
          <a:xfrm>
            <a:off x="438912" y="1298448"/>
            <a:ext cx="8357616"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Step 1 — MySQL Import Succeeded</a:t>
            </a:r>
            <a:endParaRPr lang="en-US" sz="1500" dirty="0"/>
          </a:p>
        </p:txBody>
      </p:sp>
      <p:sp>
        <p:nvSpPr>
          <p:cNvPr id="10" name="Text 8"/>
          <p:cNvSpPr/>
          <p:nvPr/>
        </p:nvSpPr>
        <p:spPr>
          <a:xfrm>
            <a:off x="438912" y="1609344"/>
            <a:ext cx="8357616" cy="329184"/>
          </a:xfrm>
          <a:prstGeom prst="rect">
            <a:avLst/>
          </a:prstGeom>
          <a:noFill/>
          <a:ln/>
        </p:spPr>
        <p:txBody>
          <a:bodyPr wrap="square" lIns="0" tIns="0" rIns="0" bIns="0" rtlCol="0" anchor="t"/>
          <a:lstStyle/>
          <a:p>
            <a:pPr marL="0" indent="0">
              <a:buNone/>
            </a:pPr>
            <a:r>
              <a:rPr lang="en-US" sz="1300" dirty="0">
                <a:latin typeface="Calibri" pitchFamily="34" charset="0"/>
                <a:ea typeface="Calibri" pitchFamily="34" charset="-122"/>
                <a:cs typeface="Calibri" pitchFamily="34" charset="-120"/>
              </a:rPr>
              <a:t>Both tables were successfully imported into the EcommerceDW database in MySQL Workbench. 14 validation queries were run and all results matched Power BI measures — data integrity confirmed</a:t>
            </a:r>
            <a:r>
              <a:rPr lang="en-US" sz="1300" dirty="0">
                <a:solidFill>
                  <a:srgbClr val="64748B"/>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256032" y="2103120"/>
            <a:ext cx="8631936" cy="768096"/>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2" name="Shape 10"/>
          <p:cNvSpPr/>
          <p:nvPr/>
        </p:nvSpPr>
        <p:spPr>
          <a:xfrm>
            <a:off x="256032" y="2103120"/>
            <a:ext cx="109728" cy="768096"/>
          </a:xfrm>
          <a:prstGeom prst="rect">
            <a:avLst/>
          </a:prstGeom>
          <a:solidFill>
            <a:srgbClr val="DC2626"/>
          </a:solidFill>
          <a:ln w="12700">
            <a:solidFill>
              <a:srgbClr val="DC2626"/>
            </a:solidFill>
            <a:prstDash val="solid"/>
          </a:ln>
        </p:spPr>
        <p:txBody>
          <a:bodyPr/>
          <a:lstStyle/>
          <a:p>
            <a:endParaRPr lang="en-US"/>
          </a:p>
        </p:txBody>
      </p:sp>
      <p:sp>
        <p:nvSpPr>
          <p:cNvPr id="13" name="Text 11"/>
          <p:cNvSpPr/>
          <p:nvPr/>
        </p:nvSpPr>
        <p:spPr>
          <a:xfrm>
            <a:off x="438912" y="2176272"/>
            <a:ext cx="8357616"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Step 2 — Connector/NET Failed</a:t>
            </a:r>
            <a:endParaRPr lang="en-US" sz="1500" dirty="0"/>
          </a:p>
        </p:txBody>
      </p:sp>
      <p:sp>
        <p:nvSpPr>
          <p:cNvPr id="14" name="Text 12"/>
          <p:cNvSpPr/>
          <p:nvPr/>
        </p:nvSpPr>
        <p:spPr>
          <a:xfrm>
            <a:off x="438912" y="2487168"/>
            <a:ext cx="8357616" cy="329184"/>
          </a:xfrm>
          <a:prstGeom prst="rect">
            <a:avLst/>
          </a:prstGeom>
          <a:noFill/>
          <a:ln/>
        </p:spPr>
        <p:txBody>
          <a:bodyPr wrap="square" lIns="0" tIns="0" rIns="0" bIns="0" rtlCol="0" anchor="t"/>
          <a:lstStyle/>
          <a:p>
            <a:pPr marL="0" indent="0">
              <a:buNone/>
            </a:pPr>
            <a:r>
              <a:rPr lang="en-US" sz="1300" dirty="0">
                <a:latin typeface="Calibri" pitchFamily="34" charset="0"/>
                <a:ea typeface="Calibri" pitchFamily="34" charset="-122"/>
                <a:cs typeface="Calibri" pitchFamily="34" charset="-120"/>
              </a:rPr>
              <a:t>MySQL Connector/NET was installed to connect MySQL directly to Power BI. Despite a successful installation, Power BI could not detect it. Root cause: a 32-bit vs 64-bit version mismatch on a restricted admin laptop with no admin access to fix it.</a:t>
            </a:r>
            <a:endParaRPr lang="en-US" sz="1300" dirty="0"/>
          </a:p>
        </p:txBody>
      </p:sp>
      <p:sp>
        <p:nvSpPr>
          <p:cNvPr id="15" name="Shape 13"/>
          <p:cNvSpPr/>
          <p:nvPr/>
        </p:nvSpPr>
        <p:spPr>
          <a:xfrm>
            <a:off x="256032" y="2980944"/>
            <a:ext cx="8631936" cy="768096"/>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16" name="Shape 14"/>
          <p:cNvSpPr/>
          <p:nvPr/>
        </p:nvSpPr>
        <p:spPr>
          <a:xfrm>
            <a:off x="256032" y="2980944"/>
            <a:ext cx="109728" cy="768096"/>
          </a:xfrm>
          <a:prstGeom prst="rect">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438912" y="3054096"/>
            <a:ext cx="8357616"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Step 3 — Connector/ODBC Worked But Was Too Costly</a:t>
            </a:r>
            <a:endParaRPr lang="en-US" sz="1500" dirty="0"/>
          </a:p>
        </p:txBody>
      </p:sp>
      <p:sp>
        <p:nvSpPr>
          <p:cNvPr id="18" name="Text 16"/>
          <p:cNvSpPr/>
          <p:nvPr/>
        </p:nvSpPr>
        <p:spPr>
          <a:xfrm>
            <a:off x="438912" y="3364992"/>
            <a:ext cx="8357616" cy="329184"/>
          </a:xfrm>
          <a:prstGeom prst="rect">
            <a:avLst/>
          </a:prstGeom>
          <a:noFill/>
          <a:ln/>
        </p:spPr>
        <p:txBody>
          <a:bodyPr wrap="square" lIns="0" tIns="0" rIns="0" bIns="0" rtlCol="0" anchor="t"/>
          <a:lstStyle/>
          <a:p>
            <a:pPr marL="0" indent="0">
              <a:buNone/>
            </a:pPr>
            <a:r>
              <a:rPr lang="en-US" sz="1300" dirty="0">
                <a:latin typeface="Calibri" pitchFamily="34" charset="0"/>
                <a:ea typeface="Calibri" pitchFamily="34" charset="-122"/>
                <a:cs typeface="Calibri" pitchFamily="34" charset="-120"/>
              </a:rPr>
              <a:t>MySQL</a:t>
            </a:r>
            <a:r>
              <a:rPr lang="en-US" sz="1300" dirty="0">
                <a:solidFill>
                  <a:srgbClr val="64748B"/>
                </a:solidFill>
                <a:latin typeface="Calibri" pitchFamily="34" charset="0"/>
                <a:ea typeface="Calibri" pitchFamily="34" charset="-122"/>
                <a:cs typeface="Calibri" pitchFamily="34" charset="-120"/>
              </a:rPr>
              <a:t> </a:t>
            </a:r>
            <a:r>
              <a:rPr lang="en-US" sz="1300" dirty="0">
                <a:latin typeface="Calibri" pitchFamily="34" charset="0"/>
                <a:ea typeface="Calibri" pitchFamily="34" charset="-122"/>
                <a:cs typeface="Calibri" pitchFamily="34" charset="-120"/>
              </a:rPr>
              <a:t>Connector/ODBC installed and worked technically. However, switching data sources at that stage would have required rebuilding all 40+ measures, calculated columns and visuals from scratch. Not viable within the project deadline</a:t>
            </a:r>
            <a:r>
              <a:rPr lang="en-US" sz="1300" dirty="0">
                <a:solidFill>
                  <a:srgbClr val="64748B"/>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256032" y="3858768"/>
            <a:ext cx="8631936" cy="768096"/>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20" name="Shape 18"/>
          <p:cNvSpPr/>
          <p:nvPr/>
        </p:nvSpPr>
        <p:spPr>
          <a:xfrm>
            <a:off x="256032" y="3858768"/>
            <a:ext cx="109728" cy="768096"/>
          </a:xfrm>
          <a:prstGeom prst="rect">
            <a:avLst/>
          </a:prstGeom>
          <a:solidFill>
            <a:srgbClr val="7C3AED"/>
          </a:solidFill>
          <a:ln w="12700">
            <a:solidFill>
              <a:srgbClr val="7C3AED"/>
            </a:solidFill>
            <a:prstDash val="solid"/>
          </a:ln>
        </p:spPr>
        <p:txBody>
          <a:bodyPr/>
          <a:lstStyle/>
          <a:p>
            <a:endParaRPr lang="en-US"/>
          </a:p>
        </p:txBody>
      </p:sp>
      <p:sp>
        <p:nvSpPr>
          <p:cNvPr id="21" name="Text 19"/>
          <p:cNvSpPr/>
          <p:nvPr/>
        </p:nvSpPr>
        <p:spPr>
          <a:xfrm>
            <a:off x="438912" y="3931920"/>
            <a:ext cx="8357616" cy="256032"/>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Step 4 — CSV Source Change Triggered Errors</a:t>
            </a:r>
            <a:endParaRPr lang="en-US" sz="1500" dirty="0"/>
          </a:p>
        </p:txBody>
      </p:sp>
      <p:sp>
        <p:nvSpPr>
          <p:cNvPr id="22" name="Text 20"/>
          <p:cNvSpPr/>
          <p:nvPr/>
        </p:nvSpPr>
        <p:spPr>
          <a:xfrm>
            <a:off x="438912" y="4242816"/>
            <a:ext cx="8357616" cy="329184"/>
          </a:xfrm>
          <a:prstGeom prst="rect">
            <a:avLst/>
          </a:prstGeom>
          <a:noFill/>
          <a:ln/>
        </p:spPr>
        <p:txBody>
          <a:bodyPr wrap="square" lIns="0" tIns="0" rIns="0" bIns="0" rtlCol="0" anchor="t"/>
          <a:lstStyle/>
          <a:p>
            <a:pPr marL="0" indent="0">
              <a:buNone/>
            </a:pPr>
            <a:r>
              <a:rPr lang="en-US" sz="1300" dirty="0">
                <a:latin typeface="Calibri" pitchFamily="34" charset="0"/>
                <a:ea typeface="Calibri" pitchFamily="34" charset="-122"/>
                <a:cs typeface="Calibri" pitchFamily="34" charset="-120"/>
              </a:rPr>
              <a:t>We attempted to change the Power BI data source from Excel to CSV exports from MySQL directly. This triggered cascading errors across every visual and measure in the report. We reverted immediately to the working state.</a:t>
            </a:r>
            <a:endParaRPr lang="en-US" sz="1300" dirty="0"/>
          </a:p>
        </p:txBody>
      </p:sp>
      <p:sp>
        <p:nvSpPr>
          <p:cNvPr id="23" name="Shape 21"/>
          <p:cNvSpPr/>
          <p:nvPr/>
        </p:nvSpPr>
        <p:spPr>
          <a:xfrm>
            <a:off x="256032" y="4846320"/>
            <a:ext cx="8631936" cy="201168"/>
          </a:xfrm>
          <a:prstGeom prst="rect">
            <a:avLst/>
          </a:prstGeom>
          <a:solidFill>
            <a:srgbClr val="0D1B2A"/>
          </a:solidFill>
          <a:ln w="12700">
            <a:solidFill>
              <a:srgbClr val="0D1B2A"/>
            </a:solidFill>
            <a:prstDash val="solid"/>
          </a:ln>
        </p:spPr>
        <p:txBody>
          <a:bodyPr/>
          <a:lstStyle/>
          <a:p>
            <a:endParaRPr lang="en-US"/>
          </a:p>
        </p:txBody>
      </p:sp>
      <p:sp>
        <p:nvSpPr>
          <p:cNvPr id="24" name="Text 22"/>
          <p:cNvSpPr/>
          <p:nvPr/>
        </p:nvSpPr>
        <p:spPr>
          <a:xfrm>
            <a:off x="256032" y="4855464"/>
            <a:ext cx="8631936" cy="182880"/>
          </a:xfrm>
          <a:prstGeom prst="rect">
            <a:avLst/>
          </a:prstGeom>
          <a:noFill/>
          <a:ln/>
        </p:spPr>
        <p:txBody>
          <a:bodyPr wrap="square" lIns="0" tIns="0" rIns="0" bIns="0"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Final Decision: Excel kept as data source. MySQL work still stands — used for validation and integrity confirmation, not just for show.</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841248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10  —  Limitations &amp; Future Work</a:t>
            </a:r>
            <a:endParaRPr lang="en-US" sz="2400" dirty="0"/>
          </a:p>
        </p:txBody>
      </p:sp>
      <p:sp>
        <p:nvSpPr>
          <p:cNvPr id="4" name="Shape 2"/>
          <p:cNvSpPr/>
          <p:nvPr/>
        </p:nvSpPr>
        <p:spPr>
          <a:xfrm>
            <a:off x="256032" y="804672"/>
            <a:ext cx="4160520" cy="420624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5" name="Shape 3"/>
          <p:cNvSpPr/>
          <p:nvPr/>
        </p:nvSpPr>
        <p:spPr>
          <a:xfrm>
            <a:off x="256032" y="804672"/>
            <a:ext cx="109728" cy="4206240"/>
          </a:xfrm>
          <a:prstGeom prst="rect">
            <a:avLst/>
          </a:prstGeom>
          <a:solidFill>
            <a:srgbClr val="DC2626"/>
          </a:solidFill>
          <a:ln w="12700">
            <a:solidFill>
              <a:srgbClr val="DC2626"/>
            </a:solidFill>
            <a:prstDash val="solid"/>
          </a:ln>
        </p:spPr>
        <p:txBody>
          <a:bodyPr/>
          <a:lstStyle/>
          <a:p>
            <a:endParaRPr lang="en-US"/>
          </a:p>
        </p:txBody>
      </p:sp>
      <p:sp>
        <p:nvSpPr>
          <p:cNvPr id="6" name="Text 4"/>
          <p:cNvSpPr/>
          <p:nvPr/>
        </p:nvSpPr>
        <p:spPr>
          <a:xfrm>
            <a:off x="457200" y="914400"/>
            <a:ext cx="3886200"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Current Limitations</a:t>
            </a:r>
            <a:endParaRPr lang="en-US" sz="1500" dirty="0"/>
          </a:p>
        </p:txBody>
      </p:sp>
      <p:sp>
        <p:nvSpPr>
          <p:cNvPr id="7" name="Text 5"/>
          <p:cNvSpPr/>
          <p:nvPr/>
        </p:nvSpPr>
        <p:spPr>
          <a:xfrm>
            <a:off x="457200" y="1261872"/>
            <a:ext cx="3867912" cy="3639312"/>
          </a:xfrm>
          <a:prstGeom prst="rect">
            <a:avLst/>
          </a:prstGeom>
          <a:noFill/>
          <a:ln/>
        </p:spPr>
        <p:txBody>
          <a:bodyPr wrap="square" lIns="0" tIns="0" rIns="0" bIns="0" rtlCol="0" anchor="t"/>
          <a:lstStyle/>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No cost price data — true profit margin cannot be calculated at all</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No shipping date column — delivery times and fulfilment analysis not possible</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2018 is incomplete — full year YoY comparison is misleading</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MySQL connector could not be linked to Power BI directly</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Vendor extraction depends on SKU naming — if convention changes, it breaks silently</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No customer location data — regional sales analysis not possible</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Two separate refund statuses show inconsistent data entry across teams</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Customer IDs are anonymous numbers — no demographic profiling possible</a:t>
            </a:r>
            <a:endParaRPr lang="en-US" sz="1300" dirty="0"/>
          </a:p>
        </p:txBody>
      </p:sp>
      <p:sp>
        <p:nvSpPr>
          <p:cNvPr id="8" name="Shape 6"/>
          <p:cNvSpPr/>
          <p:nvPr/>
        </p:nvSpPr>
        <p:spPr>
          <a:xfrm>
            <a:off x="4727448" y="804672"/>
            <a:ext cx="4160520" cy="4206240"/>
          </a:xfrm>
          <a:prstGeom prst="rect">
            <a:avLst/>
          </a:prstGeom>
          <a:solidFill>
            <a:srgbClr val="FFFFFF"/>
          </a:solidFill>
          <a:ln w="12700">
            <a:solidFill>
              <a:srgbClr val="E2E8F0"/>
            </a:solidFill>
            <a:prstDash val="solid"/>
          </a:ln>
          <a:effectLst>
            <a:outerShdw blurRad="101600" dist="38100" dir="8100000" algn="bl" rotWithShape="0">
              <a:srgbClr val="000000">
                <a:alpha val="11000"/>
              </a:srgbClr>
            </a:outerShdw>
          </a:effectLst>
        </p:spPr>
        <p:txBody>
          <a:bodyPr/>
          <a:lstStyle/>
          <a:p>
            <a:endParaRPr lang="en-US"/>
          </a:p>
        </p:txBody>
      </p:sp>
      <p:sp>
        <p:nvSpPr>
          <p:cNvPr id="9" name="Shape 7"/>
          <p:cNvSpPr/>
          <p:nvPr/>
        </p:nvSpPr>
        <p:spPr>
          <a:xfrm>
            <a:off x="4727448" y="804672"/>
            <a:ext cx="109728" cy="4206240"/>
          </a:xfrm>
          <a:prstGeom prst="rect">
            <a:avLst/>
          </a:prstGeom>
          <a:solidFill>
            <a:srgbClr val="0D9488"/>
          </a:solidFill>
          <a:ln w="12700">
            <a:solidFill>
              <a:srgbClr val="0D9488"/>
            </a:solidFill>
            <a:prstDash val="solid"/>
          </a:ln>
        </p:spPr>
        <p:txBody>
          <a:bodyPr/>
          <a:lstStyle/>
          <a:p>
            <a:endParaRPr lang="en-US"/>
          </a:p>
        </p:txBody>
      </p:sp>
      <p:sp>
        <p:nvSpPr>
          <p:cNvPr id="10" name="Text 8"/>
          <p:cNvSpPr/>
          <p:nvPr/>
        </p:nvSpPr>
        <p:spPr>
          <a:xfrm>
            <a:off x="4928616" y="914400"/>
            <a:ext cx="3886200" cy="292608"/>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Recommended Future Work</a:t>
            </a:r>
            <a:endParaRPr lang="en-US" sz="1500" dirty="0"/>
          </a:p>
        </p:txBody>
      </p:sp>
      <p:sp>
        <p:nvSpPr>
          <p:cNvPr id="11" name="Text 9"/>
          <p:cNvSpPr/>
          <p:nvPr/>
        </p:nvSpPr>
        <p:spPr>
          <a:xfrm>
            <a:off x="4928616" y="1261872"/>
            <a:ext cx="3867912" cy="3639312"/>
          </a:xfrm>
          <a:prstGeom prst="rect">
            <a:avLst/>
          </a:prstGeom>
          <a:noFill/>
          <a:ln/>
        </p:spPr>
        <p:txBody>
          <a:bodyPr wrap="square" lIns="0" tIns="0" rIns="0" bIns="0" rtlCol="0" anchor="t"/>
          <a:lstStyle/>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Add product cost price — enables true profit margin and pricing decisions</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Add shipping date — enables delivery time analysis and fulfilment tracking</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Collect full year 2018 and 2019 data for accurate trend comparisons</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Fix MySQL connector — enables live data refresh directly in Power BI</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Standardise refund process — one status only across all teams</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Add customer location data — enables regional sales breakdown</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Build predictive models — forecast future revenue and cancellation rates</a:t>
            </a:r>
            <a:endParaRPr lang="en-US" sz="1300" dirty="0"/>
          </a:p>
          <a:p>
            <a:pPr marL="0" indent="0">
              <a:spcAft>
                <a:spcPts val="600"/>
              </a:spcAft>
              <a:buNone/>
            </a:pPr>
            <a:r>
              <a:rPr lang="en-US" sz="1300" dirty="0">
                <a:solidFill>
                  <a:srgbClr val="1E293B"/>
                </a:solidFill>
                <a:latin typeface="Calibri" pitchFamily="34" charset="0"/>
                <a:ea typeface="Calibri" pitchFamily="34" charset="-122"/>
                <a:cs typeface="Calibri" pitchFamily="34" charset="-120"/>
              </a:rPr>
              <a:t>• Schedule automatic data refresh — move from static Excel to live MySQL</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txBody>
          <a:bodyPr/>
          <a:lstStyle/>
          <a:p>
            <a:endParaRPr lang="en-US"/>
          </a:p>
        </p:txBody>
      </p:sp>
      <p:sp>
        <p:nvSpPr>
          <p:cNvPr id="3" name="Text 1"/>
          <p:cNvSpPr/>
          <p:nvPr/>
        </p:nvSpPr>
        <p:spPr>
          <a:xfrm>
            <a:off x="365760" y="54864"/>
            <a:ext cx="8412480" cy="576072"/>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Dashboard Screenshots</a:t>
            </a:r>
            <a:endParaRPr lang="en-US" sz="2400" dirty="0"/>
          </a:p>
        </p:txBody>
      </p:sp>
      <p:sp>
        <p:nvSpPr>
          <p:cNvPr id="4" name="Shape 2"/>
          <p:cNvSpPr/>
          <p:nvPr/>
        </p:nvSpPr>
        <p:spPr>
          <a:xfrm>
            <a:off x="256032" y="804672"/>
            <a:ext cx="4160520" cy="1993392"/>
          </a:xfrm>
          <a:prstGeom prst="rect">
            <a:avLst/>
          </a:prstGeom>
          <a:solidFill>
            <a:srgbClr val="E2E8F0"/>
          </a:solidFill>
          <a:ln w="12700">
            <a:solidFill>
              <a:srgbClr val="CBD5E1"/>
            </a:solidFill>
            <a:prstDash val="dash"/>
          </a:ln>
        </p:spPr>
        <p:txBody>
          <a:bodyPr/>
          <a:lstStyle/>
          <a:p>
            <a:endParaRPr lang="en-US"/>
          </a:p>
        </p:txBody>
      </p:sp>
      <p:sp>
        <p:nvSpPr>
          <p:cNvPr id="5" name="Text 3"/>
          <p:cNvSpPr/>
          <p:nvPr/>
        </p:nvSpPr>
        <p:spPr>
          <a:xfrm>
            <a:off x="256032" y="804672"/>
            <a:ext cx="4160520" cy="1993392"/>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 Paste Screenshot</a:t>
            </a:r>
            <a:endParaRPr lang="en-US" sz="1300" dirty="0"/>
          </a:p>
          <a:p>
            <a:pPr marL="0" indent="0" algn="ctr">
              <a:buNone/>
            </a:pPr>
            <a:r>
              <a:rPr lang="en-US" sz="1300" dirty="0">
                <a:solidFill>
                  <a:srgbClr val="64748B"/>
                </a:solidFill>
                <a:latin typeface="Calibri" pitchFamily="34" charset="0"/>
                <a:ea typeface="Calibri" pitchFamily="34" charset="-122"/>
                <a:cs typeface="Calibri" pitchFamily="34" charset="-120"/>
              </a:rPr>
              <a:t>Business Overview ]</a:t>
            </a:r>
            <a:endParaRPr lang="en-US" sz="1300" dirty="0"/>
          </a:p>
        </p:txBody>
      </p:sp>
      <p:sp>
        <p:nvSpPr>
          <p:cNvPr id="6" name="Shape 4"/>
          <p:cNvSpPr/>
          <p:nvPr/>
        </p:nvSpPr>
        <p:spPr>
          <a:xfrm>
            <a:off x="4727448" y="804672"/>
            <a:ext cx="4160520" cy="1993392"/>
          </a:xfrm>
          <a:prstGeom prst="rect">
            <a:avLst/>
          </a:prstGeom>
          <a:solidFill>
            <a:srgbClr val="E2E8F0"/>
          </a:solidFill>
          <a:ln w="12700">
            <a:solidFill>
              <a:srgbClr val="CBD5E1"/>
            </a:solidFill>
            <a:prstDash val="dash"/>
          </a:ln>
        </p:spPr>
        <p:txBody>
          <a:bodyPr/>
          <a:lstStyle/>
          <a:p>
            <a:endParaRPr lang="en-US"/>
          </a:p>
        </p:txBody>
      </p:sp>
      <p:sp>
        <p:nvSpPr>
          <p:cNvPr id="7" name="Text 5"/>
          <p:cNvSpPr/>
          <p:nvPr/>
        </p:nvSpPr>
        <p:spPr>
          <a:xfrm>
            <a:off x="4727448" y="804672"/>
            <a:ext cx="4160520" cy="1993392"/>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 Paste Screenshot</a:t>
            </a:r>
            <a:endParaRPr lang="en-US" sz="1300" dirty="0"/>
          </a:p>
          <a:p>
            <a:pPr marL="0" indent="0" algn="ctr">
              <a:buNone/>
            </a:pPr>
            <a:r>
              <a:rPr lang="en-US" sz="1300" dirty="0">
                <a:solidFill>
                  <a:srgbClr val="64748B"/>
                </a:solidFill>
                <a:latin typeface="Calibri" pitchFamily="34" charset="0"/>
                <a:ea typeface="Calibri" pitchFamily="34" charset="-122"/>
                <a:cs typeface="Calibri" pitchFamily="34" charset="-120"/>
              </a:rPr>
              <a:t>Sales &amp; Revenue ]</a:t>
            </a:r>
            <a:endParaRPr lang="en-US" sz="1300" dirty="0"/>
          </a:p>
        </p:txBody>
      </p:sp>
      <p:sp>
        <p:nvSpPr>
          <p:cNvPr id="8" name="Shape 6"/>
          <p:cNvSpPr/>
          <p:nvPr/>
        </p:nvSpPr>
        <p:spPr>
          <a:xfrm>
            <a:off x="256032" y="2926080"/>
            <a:ext cx="4160520" cy="2011680"/>
          </a:xfrm>
          <a:prstGeom prst="rect">
            <a:avLst/>
          </a:prstGeom>
          <a:solidFill>
            <a:srgbClr val="E2E8F0"/>
          </a:solidFill>
          <a:ln w="12700">
            <a:solidFill>
              <a:srgbClr val="CBD5E1"/>
            </a:solidFill>
            <a:prstDash val="dash"/>
          </a:ln>
        </p:spPr>
        <p:txBody>
          <a:bodyPr/>
          <a:lstStyle/>
          <a:p>
            <a:endParaRPr lang="en-US"/>
          </a:p>
        </p:txBody>
      </p:sp>
      <p:sp>
        <p:nvSpPr>
          <p:cNvPr id="9" name="Text 7"/>
          <p:cNvSpPr/>
          <p:nvPr/>
        </p:nvSpPr>
        <p:spPr>
          <a:xfrm>
            <a:off x="256032" y="2926080"/>
            <a:ext cx="4160520" cy="201168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 Paste Screenshot</a:t>
            </a:r>
            <a:endParaRPr lang="en-US" sz="1300" dirty="0"/>
          </a:p>
          <a:p>
            <a:pPr marL="0" indent="0" algn="ctr">
              <a:buNone/>
            </a:pPr>
            <a:r>
              <a:rPr lang="en-US" sz="1300" dirty="0">
                <a:solidFill>
                  <a:srgbClr val="64748B"/>
                </a:solidFill>
                <a:latin typeface="Calibri" pitchFamily="34" charset="0"/>
                <a:ea typeface="Calibri" pitchFamily="34" charset="-122"/>
                <a:cs typeface="Calibri" pitchFamily="34" charset="-120"/>
              </a:rPr>
              <a:t>Products &amp; Vendors ]</a:t>
            </a:r>
            <a:endParaRPr lang="en-US" sz="1300" dirty="0"/>
          </a:p>
        </p:txBody>
      </p:sp>
      <p:sp>
        <p:nvSpPr>
          <p:cNvPr id="10" name="Shape 8"/>
          <p:cNvSpPr/>
          <p:nvPr/>
        </p:nvSpPr>
        <p:spPr>
          <a:xfrm>
            <a:off x="4572000" y="2926080"/>
            <a:ext cx="2121408" cy="2011680"/>
          </a:xfrm>
          <a:prstGeom prst="rect">
            <a:avLst/>
          </a:prstGeom>
          <a:solidFill>
            <a:srgbClr val="E2E8F0"/>
          </a:solidFill>
          <a:ln w="12700">
            <a:solidFill>
              <a:srgbClr val="CBD5E1"/>
            </a:solidFill>
            <a:prstDash val="dash"/>
          </a:ln>
        </p:spPr>
        <p:txBody>
          <a:bodyPr/>
          <a:lstStyle/>
          <a:p>
            <a:endParaRPr lang="en-US"/>
          </a:p>
        </p:txBody>
      </p:sp>
      <p:sp>
        <p:nvSpPr>
          <p:cNvPr id="11" name="Text 9"/>
          <p:cNvSpPr/>
          <p:nvPr/>
        </p:nvSpPr>
        <p:spPr>
          <a:xfrm>
            <a:off x="4727448" y="2926080"/>
            <a:ext cx="1965960" cy="201168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 Paste Screenshot</a:t>
            </a:r>
            <a:endParaRPr lang="en-US" sz="1300" dirty="0"/>
          </a:p>
          <a:p>
            <a:pPr marL="0" indent="0" algn="ctr">
              <a:buNone/>
            </a:pPr>
            <a:r>
              <a:rPr lang="en-US" sz="1300" dirty="0">
                <a:solidFill>
                  <a:srgbClr val="64748B"/>
                </a:solidFill>
                <a:latin typeface="Calibri" pitchFamily="34" charset="0"/>
                <a:ea typeface="Calibri" pitchFamily="34" charset="-122"/>
                <a:cs typeface="Calibri" pitchFamily="34" charset="-120"/>
              </a:rPr>
              <a:t>Operations ]</a:t>
            </a:r>
            <a:endParaRPr lang="en-US" sz="1300" dirty="0"/>
          </a:p>
        </p:txBody>
      </p:sp>
      <p:sp>
        <p:nvSpPr>
          <p:cNvPr id="12" name="Shape 10"/>
          <p:cNvSpPr/>
          <p:nvPr/>
        </p:nvSpPr>
        <p:spPr>
          <a:xfrm>
            <a:off x="6830568" y="2926080"/>
            <a:ext cx="2057400" cy="2011680"/>
          </a:xfrm>
          <a:prstGeom prst="rect">
            <a:avLst/>
          </a:prstGeom>
          <a:solidFill>
            <a:srgbClr val="E2E8F0"/>
          </a:solidFill>
          <a:ln w="12700">
            <a:solidFill>
              <a:srgbClr val="CBD5E1"/>
            </a:solidFill>
            <a:prstDash val="dash"/>
          </a:ln>
        </p:spPr>
        <p:txBody>
          <a:bodyPr/>
          <a:lstStyle/>
          <a:p>
            <a:endParaRPr lang="en-US"/>
          </a:p>
        </p:txBody>
      </p:sp>
      <p:sp>
        <p:nvSpPr>
          <p:cNvPr id="13" name="Text 11"/>
          <p:cNvSpPr/>
          <p:nvPr/>
        </p:nvSpPr>
        <p:spPr>
          <a:xfrm>
            <a:off x="6830568" y="2926080"/>
            <a:ext cx="2057400" cy="201168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 Paste Screenshot</a:t>
            </a:r>
            <a:endParaRPr lang="en-US" sz="1300" dirty="0"/>
          </a:p>
          <a:p>
            <a:pPr marL="0" indent="0" algn="ctr">
              <a:buNone/>
            </a:pPr>
            <a:r>
              <a:rPr lang="en-US" sz="1300" dirty="0">
                <a:solidFill>
                  <a:srgbClr val="64748B"/>
                </a:solidFill>
                <a:latin typeface="Calibri" pitchFamily="34" charset="0"/>
                <a:ea typeface="Calibri" pitchFamily="34" charset="-122"/>
                <a:cs typeface="Calibri" pitchFamily="34" charset="-120"/>
              </a:rPr>
              <a:t>Customer Analysis ]</a:t>
            </a:r>
            <a:endParaRPr lang="en-US" sz="1300" dirty="0"/>
          </a:p>
        </p:txBody>
      </p:sp>
      <p:sp>
        <p:nvSpPr>
          <p:cNvPr id="14" name="Shape 12"/>
          <p:cNvSpPr/>
          <p:nvPr/>
        </p:nvSpPr>
        <p:spPr>
          <a:xfrm>
            <a:off x="0" y="4791456"/>
            <a:ext cx="9144000" cy="352044"/>
          </a:xfrm>
          <a:prstGeom prst="rect">
            <a:avLst/>
          </a:prstGeom>
          <a:solidFill>
            <a:srgbClr val="0D1B2A"/>
          </a:solidFill>
          <a:ln w="12700">
            <a:solidFill>
              <a:srgbClr val="0D1B2A"/>
            </a:solidFill>
            <a:prstDash val="solid"/>
          </a:ln>
        </p:spPr>
        <p:txBody>
          <a:bodyPr/>
          <a:lstStyle/>
          <a:p>
            <a:endParaRPr lang="en-US"/>
          </a:p>
        </p:txBody>
      </p:sp>
      <p:sp>
        <p:nvSpPr>
          <p:cNvPr id="15" name="Text 13"/>
          <p:cNvSpPr/>
          <p:nvPr/>
        </p:nvSpPr>
        <p:spPr>
          <a:xfrm>
            <a:off x="274320" y="4809744"/>
            <a:ext cx="8595360" cy="29260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Windows + Shift + S to screenshot  •  Paste into each box  •  Resize to fit</a:t>
            </a:r>
            <a:endParaRPr lang="en-US" sz="1200" dirty="0"/>
          </a:p>
        </p:txBody>
      </p:sp>
      <p:pic>
        <p:nvPicPr>
          <p:cNvPr id="17" name="Picture 16">
            <a:extLst>
              <a:ext uri="{FF2B5EF4-FFF2-40B4-BE49-F238E27FC236}">
                <a16:creationId xmlns:a16="http://schemas.microsoft.com/office/drawing/2014/main" id="{7E860600-FF38-C741-9F1B-B4527ABD1B55}"/>
              </a:ext>
            </a:extLst>
          </p:cNvPr>
          <p:cNvPicPr>
            <a:picLocks noChangeAspect="1"/>
          </p:cNvPicPr>
          <p:nvPr/>
        </p:nvPicPr>
        <p:blipFill>
          <a:blip r:embed="rId3"/>
          <a:stretch>
            <a:fillRect/>
          </a:stretch>
        </p:blipFill>
        <p:spPr>
          <a:xfrm>
            <a:off x="228749" y="782838"/>
            <a:ext cx="4206091" cy="2015226"/>
          </a:xfrm>
          <a:prstGeom prst="rect">
            <a:avLst/>
          </a:prstGeom>
        </p:spPr>
      </p:pic>
      <p:pic>
        <p:nvPicPr>
          <p:cNvPr id="19" name="Picture 18">
            <a:extLst>
              <a:ext uri="{FF2B5EF4-FFF2-40B4-BE49-F238E27FC236}">
                <a16:creationId xmlns:a16="http://schemas.microsoft.com/office/drawing/2014/main" id="{4A7CAC1C-27AC-D857-954F-C53E821B2F43}"/>
              </a:ext>
            </a:extLst>
          </p:cNvPr>
          <p:cNvPicPr>
            <a:picLocks noChangeAspect="1"/>
          </p:cNvPicPr>
          <p:nvPr/>
        </p:nvPicPr>
        <p:blipFill>
          <a:blip r:embed="rId4"/>
          <a:stretch>
            <a:fillRect/>
          </a:stretch>
        </p:blipFill>
        <p:spPr>
          <a:xfrm>
            <a:off x="4690872" y="761766"/>
            <a:ext cx="4245180" cy="2036298"/>
          </a:xfrm>
          <a:prstGeom prst="rect">
            <a:avLst/>
          </a:prstGeom>
        </p:spPr>
      </p:pic>
      <p:pic>
        <p:nvPicPr>
          <p:cNvPr id="21" name="Picture 20">
            <a:extLst>
              <a:ext uri="{FF2B5EF4-FFF2-40B4-BE49-F238E27FC236}">
                <a16:creationId xmlns:a16="http://schemas.microsoft.com/office/drawing/2014/main" id="{4F6D1AC8-EC59-DBDD-A402-365531C6925C}"/>
              </a:ext>
            </a:extLst>
          </p:cNvPr>
          <p:cNvPicPr>
            <a:picLocks noChangeAspect="1"/>
          </p:cNvPicPr>
          <p:nvPr/>
        </p:nvPicPr>
        <p:blipFill>
          <a:blip r:embed="rId5"/>
          <a:stretch>
            <a:fillRect/>
          </a:stretch>
        </p:blipFill>
        <p:spPr>
          <a:xfrm>
            <a:off x="274320" y="2914650"/>
            <a:ext cx="4178892" cy="1835658"/>
          </a:xfrm>
          <a:prstGeom prst="rect">
            <a:avLst/>
          </a:prstGeom>
        </p:spPr>
      </p:pic>
      <p:pic>
        <p:nvPicPr>
          <p:cNvPr id="23" name="Picture 22">
            <a:extLst>
              <a:ext uri="{FF2B5EF4-FFF2-40B4-BE49-F238E27FC236}">
                <a16:creationId xmlns:a16="http://schemas.microsoft.com/office/drawing/2014/main" id="{FEEA9C98-C536-1CFB-0DE0-EF9A1543F54D}"/>
              </a:ext>
            </a:extLst>
          </p:cNvPr>
          <p:cNvPicPr>
            <a:picLocks noChangeAspect="1"/>
          </p:cNvPicPr>
          <p:nvPr/>
        </p:nvPicPr>
        <p:blipFill>
          <a:blip r:embed="rId6"/>
          <a:stretch>
            <a:fillRect/>
          </a:stretch>
        </p:blipFill>
        <p:spPr>
          <a:xfrm>
            <a:off x="6830568" y="2891580"/>
            <a:ext cx="2172756" cy="1806360"/>
          </a:xfrm>
          <a:prstGeom prst="rect">
            <a:avLst/>
          </a:prstGeom>
        </p:spPr>
      </p:pic>
      <p:pic>
        <p:nvPicPr>
          <p:cNvPr id="25" name="Picture 24">
            <a:extLst>
              <a:ext uri="{FF2B5EF4-FFF2-40B4-BE49-F238E27FC236}">
                <a16:creationId xmlns:a16="http://schemas.microsoft.com/office/drawing/2014/main" id="{4F903180-4632-E981-7E1E-3E6AC08FE5F8}"/>
              </a:ext>
            </a:extLst>
          </p:cNvPr>
          <p:cNvPicPr>
            <a:picLocks noChangeAspect="1"/>
          </p:cNvPicPr>
          <p:nvPr/>
        </p:nvPicPr>
        <p:blipFill>
          <a:blip r:embed="rId7"/>
          <a:stretch>
            <a:fillRect/>
          </a:stretch>
        </p:blipFill>
        <p:spPr>
          <a:xfrm>
            <a:off x="4572000" y="2926080"/>
            <a:ext cx="2189988" cy="18653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3720</TotalTime>
  <Words>3213</Words>
  <Application>Microsoft Office PowerPoint</Application>
  <PresentationFormat>On-screen Show (16:9)</PresentationFormat>
  <Paragraphs>396</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Analytics — Full Project Report v6</dc:title>
  <dc:subject>PptxGenJS Presentation</dc:subject>
  <dc:creator>PptxGenJS</dc:creator>
  <cp:lastModifiedBy>Winslet Naserian</cp:lastModifiedBy>
  <cp:revision>9</cp:revision>
  <dcterms:created xsi:type="dcterms:W3CDTF">2026-03-15T01:49:51Z</dcterms:created>
  <dcterms:modified xsi:type="dcterms:W3CDTF">2026-03-29T16:49:11Z</dcterms:modified>
</cp:coreProperties>
</file>